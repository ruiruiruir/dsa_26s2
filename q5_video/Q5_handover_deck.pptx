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~28s]</a:t>
            </a:r>
          </a:p>
          <a:p/>
          <a:p>
            <a:r>
              <a:t>Hello. I'm handing over the analysis behind the IR team's estimates of how the market will react to our three upcoming readouts. My position: it's fit to inform those estimates, but not to produce a headline number, and it's far stronger on the downside than the upside. I'll cover what it supports, where it shouldn't be relied on, how it was produced, and how I checked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this slide through the opening if you prefer a single frame while you set up the argument. Otherwise move here on 'far stronger on the downside than the upside'.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[0:28 — ~53s]</a:t>
            </a:r>
          </a:p>
          <a:p/>
          <a:p>
            <a:r>
              <a:t>Three things I'd stand behind.</a:t>
            </a:r>
          </a:p>
          <a:p/>
          <a:p>
            <a:r>
              <a:t>First, the ordering. For all three assets a negative readout is materially worse than a positive one, by fifteen to twenty-five points of central estimate, and that survives every seed I ran.</a:t>
            </a:r>
          </a:p>
          <a:p/>
          <a:p>
            <a:r>
              <a:t>Second, the downside for ASC-204. It sits in a cluster of 274 cardiovascular and renal outcome trials, 247 in the same therapeutic area, with 39 negative readouts behind the distribution. That's the estimate I'd let the funding decision rest on.</a:t>
            </a:r>
          </a:p>
          <a:p/>
          <a:p>
            <a:r>
              <a:t>[CUT IF LONG] Third, ranking severity. Of the announcements the model puts in its worst decile, 60 per cent fell more than ten per cent and 43 per cent fell more than twenty-five. It sorts readouts into 'could be severe' and 'probably won't be'. It won't tell you a stock moves fourteen per cent.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~57s]</a:t>
            </a:r>
          </a:p>
          <a:p/>
          <a:p>
            <a:r>
              <a:t>Now the limits, and they're real.</a:t>
            </a:r>
          </a:p>
          <a:p/>
          <a:p>
            <a:r>
              <a:t>ASC-101 has effectively no comparables. The dataset holds seven hereditary angioedema readouts in total, so my method matched it on design, to vaccine trials, because it couldn't match on disease. That number is a Phase 3 base rate wearing a comparable set's clothes, and should be presented that way.</a:t>
            </a:r>
          </a:p>
          <a:p/>
          <a:p>
            <a:r>
              <a:t>The upside is close to unmodelled. Within positive readouts the model explains about five per cent of the spread, and effectively nothing once I'm limited to what Asclepius can supply. For an upside case, quote the historical range, not a model output.</a:t>
            </a:r>
          </a:p>
          <a:p/>
          <a:p>
            <a:r>
              <a:t>And Asclepius has no price history in this database. Volatility is most of what let the model size a bad outcome, so the bands are wide — about 68 points. That width is correct, not a gap more modelling closes.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 ~52s]</a:t>
            </a:r>
          </a:p>
          <a:p/>
          <a:p>
            <a:r>
              <a:t>I used Claude, through Claude Code, heavily and throughout — to write and debug the code, to pull result sentences out of the filings so I could read them, and to draft commentary I then rewrote. The full conversations are in the submitted log.</a:t>
            </a:r>
          </a:p>
          <a:p/>
          <a:p>
            <a:r>
              <a:t>What I didn't delegate was the judgement. I set the constraints: no feature that wasn't observable before the event, and the illustrative announcement drafts excluded entirely, because they were written to express the assumed outcome. The thirty filings I read against the original 8-Ks are my reading, not its summary.</a:t>
            </a:r>
          </a:p>
          <a:p/>
          <a:p>
            <a:r>
              <a:t>And I corrected it. It mapped all three mixed scenarios to mixed-positive; I read the ASC-204 draft, saw a missed primary endpoint rescued by a subgroup, and moved it to mixed-negative.</a:t>
            </a:r>
          </a:p>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 ~53s]</a:t>
            </a:r>
          </a:p>
          <a:p/>
          <a:p>
            <a:r>
              <a:t>On checking, three things I'd point you at.</a:t>
            </a:r>
          </a:p>
          <a:p/>
          <a:p>
            <a:r>
              <a:t>I ran a leakage audit before fitting anything. With the nine excluded columns put back, R-squared goes from 0.21 to 0.96. The one that mattered was my own data-quality index — it lifted R-squared by 0.086, until I traced it to one signal built from the realised return. That's the leakage that survives review: it looks legitimate, and the name gives nothing away.</a:t>
            </a:r>
          </a:p>
          <a:p/>
          <a:p>
            <a:r>
              <a:t>[CUT IF LONG] I validated against honest nulls — permuted features for the clustering, bootstrap by filing rather than by row, and forward chaining, which drops R-squared from 0.20 to 0.16. That's what the pipeline can deliver.</a:t>
            </a:r>
          </a:p>
          <a:p/>
          <a:p>
            <a:r>
              <a:t>And I corrected my own claims: I'd told the team the range width was mainly not knowing the result. It's about a quarter.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[4:03 — ~31s]</a:t>
            </a:r>
          </a:p>
          <a:p/>
          <a:p>
            <a:r>
              <a:t>Under PG1 I'm responsible for the judgements here regardless of what produced the first draft of them — which means understanding the model before relying on it, and judging whether its assumptions suit the purpose. That's what I've tried to do.</a:t>
            </a:r>
          </a:p>
          <a:p/>
          <a:p>
            <a:r>
              <a:t>If your time is limited, I'd put it on two things: my decision to exclude the announcement drafts, and whether the ASC-101 estimate should go in front of the board at all. Thank you.</a:t>
            </a:r>
          </a:p>
          <a:p/>
          <a:p>
            <a:r>
              <a:t>END — target 4:30, limit 5:00.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3108960"/>
          </a:xfrm>
          <a:prstGeom prst="rect">
            <a:avLst/>
          </a:prstGeom>
          <a:noFill/>
        </p:spPr>
        <p:txBody>
          <a:bodyPr wrap="square">
            <a:spAutoFit/>
          </a:bodyPr>
          <a:lstStyle/>
          <a:p>
            <a:pPr>
              <a:lnSpc>
                <a:spcPct val="108000"/>
              </a:lnSpc>
              <a:spcBef>
                <a:spcPts val="0"/>
              </a:spcBef>
              <a:spcAft>
                <a:spcPts val="1000"/>
              </a:spcAft>
            </a:pPr>
            <a:r>
              <a:rPr sz="1200" b="1" i="0">
                <a:solidFill>
                  <a:srgbClr val="5A6478"/>
                </a:solidFill>
                <a:latin typeface="Calibri"/>
              </a:rPr>
              <a:t>DSA 2026 S2 — QUESTION 5</a:t>
            </a:r>
          </a:p>
          <a:p>
            <a:pPr>
              <a:lnSpc>
                <a:spcPct val="100000"/>
              </a:lnSpc>
              <a:spcBef>
                <a:spcPts val="0"/>
              </a:spcBef>
              <a:spcAft>
                <a:spcPts val="1400"/>
              </a:spcAft>
            </a:pPr>
            <a:r>
              <a:rPr sz="3600" b="1" i="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market reactions to the ASC-101, ASC-204 and ASC-370 readouts</a:t>
            </a:r>
          </a:p>
          <a:p>
            <a:pPr>
              <a:lnSpc>
                <a:spcPct val="108000"/>
              </a:lnSpc>
              <a:spcBef>
                <a:spcPts val="0"/>
              </a:spcBef>
              <a:spcAft>
                <a:spcPts val="0"/>
              </a:spcAft>
            </a:pPr>
            <a:r>
              <a:rPr sz="1400" b="0" i="0">
                <a:solidFill>
                  <a:srgbClr val="5A6478"/>
                </a:solidFill>
                <a:latin typeface="Calibri"/>
              </a:rPr>
              <a:t>Member ID: [INSERT]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OPINION</a:t>
            </a:r>
          </a:p>
          <a:p>
            <a:pPr>
              <a:lnSpc>
                <a:spcPct val="100000"/>
              </a:lnSpc>
              <a:spcBef>
                <a:spcPts val="0"/>
              </a:spcBef>
              <a:spcAft>
                <a:spcPts val="0"/>
              </a:spcAft>
            </a:pPr>
            <a:r>
              <a:rPr sz="3000" b="1" i="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0.05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THE ANALYSIS SUPPORTS</a:t>
            </a:r>
          </a:p>
          <a:p>
            <a:pPr>
              <a:lnSpc>
                <a:spcPct val="100000"/>
              </a:lnSpc>
              <a:spcBef>
                <a:spcPts val="0"/>
              </a:spcBef>
              <a:spcAft>
                <a:spcPts val="0"/>
              </a:spcAft>
            </a:pPr>
            <a:r>
              <a:rPr sz="3000" b="1" i="0">
                <a:solidFill>
                  <a:srgbClr val="1F4E79"/>
                </a:solidFill>
                <a:latin typeface="Calibri"/>
              </a:rPr>
              <a:t>Three things I'd
stand behind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15–25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274-trial cardiovascular and renal cluster · 247 in the same therapeutic area · 39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60% fell more than 10%, 43% more than 25%. AUC 0.77 for a fall beyond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WHERE IT SHOULD NOT BE RELIED UPON</a:t>
            </a:r>
          </a:p>
          <a:p>
            <a:pPr>
              <a:lnSpc>
                <a:spcPct val="100000"/>
              </a:lnSpc>
              <a:spcBef>
                <a:spcPts val="0"/>
              </a:spcBef>
              <a:spcAft>
                <a:spcPts val="0"/>
              </a:spcAft>
            </a:pPr>
            <a:r>
              <a:rPr sz="3000" b="1" i="0">
                <a:solidFill>
                  <a:srgbClr val="A8322D"/>
                </a:solidFill>
                <a:latin typeface="Calibri"/>
              </a:rPr>
              <a:t>Three limits,
and they are real</a:t>
            </a: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0.05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Asclepius has no price history here.</a:t>
            </a:r>
          </a:p>
          <a:p>
            <a:pPr>
              <a:lnSpc>
                <a:spcPct val="112000"/>
              </a:lnSpc>
              <a:spcBef>
                <a:spcPts val="0"/>
              </a:spcBef>
              <a:spcAft>
                <a:spcPts val="0"/>
              </a:spcAft>
            </a:pPr>
            <a:r>
              <a:rPr sz="1500" b="0" i="0">
                <a:solidFill>
                  <a:srgbClr val="5A6478"/>
                </a:solidFill>
                <a:latin typeface="Calibri"/>
              </a:rPr>
              <a:t>Volatility did most of the work in sizing a bad outcome. Bands are ~68 points wide — correctly wide, not a gap more modelling closes.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THE WORK WAS PRODUCED</a:t>
            </a:r>
          </a:p>
          <a:p>
            <a:pPr>
              <a:lnSpc>
                <a:spcPct val="100000"/>
              </a:lnSpc>
              <a:spcBef>
                <a:spcPts val="0"/>
              </a:spcBef>
              <a:spcAft>
                <a:spcPts val="0"/>
              </a:spcAft>
            </a:pPr>
            <a:r>
              <a:rPr sz="3000" b="1" i="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Claude, via Claude Code, heavily and throughout.</a:t>
            </a:r>
          </a:p>
          <a:p>
            <a:pPr>
              <a:lnSpc>
                <a:spcPct val="112000"/>
              </a:lnSpc>
              <a:spcBef>
                <a:spcPts val="0"/>
              </a:spcBef>
              <a:spcAft>
                <a:spcPts val="0"/>
              </a:spcAft>
            </a:pPr>
            <a:r>
              <a:rPr sz="1500" b="0" i="0">
                <a:solidFill>
                  <a:srgbClr val="5A6478"/>
                </a:solidFill>
                <a:latin typeface="Calibri"/>
              </a:rPr>
              <a:t>Code written and debugged, result sentences pulled from the filings for me to read, commentary drafted and then rewritten. Full logs submitted.</a:t>
            </a:r>
          </a:p>
          <a:p>
            <a:pPr>
              <a:lnSpc>
                <a:spcPct val="108000"/>
              </a:lnSpc>
              <a:spcBef>
                <a:spcPts val="1400"/>
              </a:spcBef>
              <a:spcAft>
                <a:spcPts val="300"/>
              </a:spcAft>
            </a:pPr>
            <a:r>
              <a:rPr sz="1900" b="1" i="0">
                <a:solidFill>
                  <a:srgbClr val="141B2D"/>
                </a:solidFill>
                <a:latin typeface="Calibri"/>
              </a:rPr>
              <a:t>The constraints were mine.</a:t>
            </a:r>
          </a:p>
          <a:p>
            <a:pPr>
              <a:lnSpc>
                <a:spcPct val="112000"/>
              </a:lnSpc>
              <a:spcBef>
                <a:spcPts val="0"/>
              </a:spcBef>
              <a:spcAft>
                <a:spcPts val="0"/>
              </a:spcAft>
            </a:pPr>
            <a:r>
              <a:rPr sz="1500" b="0" i="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sz="1900" b="1" i="0">
                <a:solidFill>
                  <a:srgbClr val="141B2D"/>
                </a:solidFill>
                <a:latin typeface="Calibri"/>
              </a:rPr>
              <a:t>And I corrected it.</a:t>
            </a:r>
          </a:p>
          <a:p>
            <a:pPr>
              <a:lnSpc>
                <a:spcPct val="112000"/>
              </a:lnSpc>
              <a:spcBef>
                <a:spcPts val="0"/>
              </a:spcBef>
              <a:spcAft>
                <a:spcPts val="0"/>
              </a:spcAft>
            </a:pPr>
            <a:r>
              <a:rPr sz="1500" b="0" i="0">
                <a:solidFill>
                  <a:srgbClr val="5A6478"/>
                </a:solidFill>
                <a:latin typeface="Calibri"/>
              </a:rPr>
              <a:t>It called all three mixed scenarios mixed-positive. ASC-204's misses its primary endpoint and is rescued by a subgroup — that is mixed-negative.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I SATISFIED MYSELF IT IS SOUND</a:t>
            </a:r>
          </a:p>
          <a:p>
            <a:pPr>
              <a:lnSpc>
                <a:spcPct val="100000"/>
              </a:lnSpc>
              <a:spcBef>
                <a:spcPts val="0"/>
              </a:spcBef>
              <a:spcAft>
                <a:spcPts val="0"/>
              </a:spcAft>
            </a:pPr>
            <a:r>
              <a:rPr sz="3000" b="1" i="0">
                <a:solidFill>
                  <a:srgbClr val="1F4E79"/>
                </a:solidFill>
                <a:latin typeface="Calibri"/>
              </a:rPr>
              <a:t>What I examined,
and what it changed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800" b="1" i="0">
                <a:solidFill>
                  <a:srgbClr val="141B2D"/>
                </a:solidFill>
                <a:latin typeface="Calibri"/>
              </a:rPr>
              <a:t>Leakage audit before anything was fitted.</a:t>
            </a:r>
          </a:p>
          <a:p>
            <a:pPr>
              <a:lnSpc>
                <a:spcPct val="112000"/>
              </a:lnSpc>
              <a:spcBef>
                <a:spcPts val="0"/>
              </a:spcBef>
              <a:spcAft>
                <a:spcPts val="0"/>
              </a:spcAft>
            </a:pPr>
            <a:r>
              <a:rPr sz="1400" b="0" i="0">
                <a:solidFill>
                  <a:srgbClr val="5A6478"/>
                </a:solidFill>
                <a:latin typeface="Calibri"/>
              </a:rPr>
              <a:t>R² 0.21 → 0.96 with the nine excluded columns put back.</a:t>
            </a:r>
          </a:p>
          <a:p>
            <a:pPr>
              <a:lnSpc>
                <a:spcPct val="108000"/>
              </a:lnSpc>
              <a:spcBef>
                <a:spcPts val="1200"/>
              </a:spcBef>
              <a:spcAft>
                <a:spcPts val="300"/>
              </a:spcAft>
            </a:pPr>
            <a:r>
              <a:rPr sz="1800" b="1" i="0">
                <a:solidFill>
                  <a:srgbClr val="141B2D"/>
                </a:solidFill>
                <a:latin typeface="Calibri"/>
              </a:rPr>
              <a:t>My own quality index was leaking.</a:t>
            </a:r>
          </a:p>
          <a:p>
            <a:pPr>
              <a:lnSpc>
                <a:spcPct val="112000"/>
              </a:lnSpc>
              <a:spcBef>
                <a:spcPts val="0"/>
              </a:spcBef>
              <a:spcAft>
                <a:spcPts val="0"/>
              </a:spcAft>
            </a:pPr>
            <a:r>
              <a:rPr sz="1400" b="0" i="0">
                <a:solidFill>
                  <a:srgbClr val="5A6478"/>
                </a:solidFill>
                <a:latin typeface="Calibri"/>
              </a:rPr>
              <a:t>+0.086 R², traced to one signal built from the realised return — the leakage that survives review, because the name gives nothing away.</a:t>
            </a:r>
          </a:p>
          <a:p>
            <a:pPr>
              <a:lnSpc>
                <a:spcPct val="108000"/>
              </a:lnSpc>
              <a:spcBef>
                <a:spcPts val="1200"/>
              </a:spcBef>
              <a:spcAft>
                <a:spcPts val="300"/>
              </a:spcAft>
            </a:pPr>
            <a:r>
              <a:rPr sz="1800" b="1" i="0">
                <a:solidFill>
                  <a:srgbClr val="141B2D"/>
                </a:solidFill>
                <a:latin typeface="Calibri"/>
              </a:rPr>
              <a:t>Validated against honest nulls.</a:t>
            </a:r>
          </a:p>
          <a:p>
            <a:pPr>
              <a:lnSpc>
                <a:spcPct val="112000"/>
              </a:lnSpc>
              <a:spcBef>
                <a:spcPts val="0"/>
              </a:spcBef>
              <a:spcAft>
                <a:spcPts val="0"/>
              </a:spcAft>
            </a:pPr>
            <a:r>
              <a:rPr sz="1400" b="0" i="0">
                <a:solidFill>
                  <a:srgbClr val="5A6478"/>
                </a:solidFill>
                <a:latin typeface="Calibri"/>
              </a:rPr>
              <a:t>Permuted features · bootstrap by filing, not by row · forward chaining takes R² from 0.20 to 0.16 — what the pipeline can deliver.</a:t>
            </a:r>
          </a:p>
          <a:p>
            <a:pPr>
              <a:lnSpc>
                <a:spcPct val="108000"/>
              </a:lnSpc>
              <a:spcBef>
                <a:spcPts val="1200"/>
              </a:spcBef>
              <a:spcAft>
                <a:spcPts val="300"/>
              </a:spcAft>
            </a:pPr>
            <a:r>
              <a:rPr sz="1800" b="1" i="0">
                <a:solidFill>
                  <a:srgbClr val="141B2D"/>
                </a:solidFill>
                <a:latin typeface="Calibri"/>
              </a:rPr>
              <a:t>I corrected my own earlier claim.</a:t>
            </a:r>
          </a:p>
          <a:p>
            <a:pPr>
              <a:lnSpc>
                <a:spcPct val="112000"/>
              </a:lnSpc>
              <a:spcBef>
                <a:spcPts val="0"/>
              </a:spcBef>
              <a:spcAft>
                <a:spcPts val="0"/>
              </a:spcAft>
            </a:pPr>
            <a:r>
              <a:rPr sz="1400" b="0" i="0">
                <a:solidFill>
                  <a:srgbClr val="5A6478"/>
                </a:solidFill>
                <a:latin typeface="Calibri"/>
              </a:rPr>
              <a:t>I had told the team the range width was mainly the unknown result. It is about a quarter.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RESPONSIBILITY UNDER PG1</a:t>
            </a:r>
          </a:p>
          <a:p>
            <a:pPr>
              <a:lnSpc>
                <a:spcPct val="100000"/>
              </a:lnSpc>
              <a:spcBef>
                <a:spcPts val="0"/>
              </a:spcBef>
              <a:spcAft>
                <a:spcPts val="0"/>
              </a:spcAft>
            </a:pPr>
            <a:r>
              <a:rPr sz="3000" b="1" i="0">
                <a:solidFill>
                  <a:srgbClr val="1F4E79"/>
                </a:solidFill>
                <a:latin typeface="Calibri"/>
              </a:rPr>
              <a:t>Mine regardless of
what drafted it first</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15000"/>
              </a:lnSpc>
              <a:spcBef>
                <a:spcPts val="0"/>
              </a:spcBef>
              <a:spcAft>
                <a:spcPts val="2200"/>
              </a:spcAft>
            </a:pPr>
            <a:r>
              <a:rPr sz="1800" b="0" i="0">
                <a:solidFill>
                  <a:srgbClr val="141B2D"/>
                </a:solidFill>
                <a:latin typeface="Calibri"/>
              </a:rPr>
              <a:t>Understand the model before relying on it. Judge whether its assumptions and methodology suit the purpose at hand.</a:t>
            </a:r>
          </a:p>
          <a:p>
            <a:pPr>
              <a:lnSpc>
                <a:spcPct val="108000"/>
              </a:lnSpc>
              <a:spcBef>
                <a:spcPts val="0"/>
              </a:spcBef>
              <a:spcAft>
                <a:spcPts val="800"/>
              </a:spcAft>
            </a:pPr>
            <a:r>
              <a:rPr sz="1200" b="1" i="0">
                <a:solidFill>
                  <a:srgbClr val="5A6478"/>
                </a:solidFill>
                <a:latin typeface="Calibri"/>
              </a:rPr>
              <a:t>IF YOUR TIME IS LIMITED, REVIEW</a:t>
            </a:r>
          </a:p>
          <a:p>
            <a:pPr>
              <a:lnSpc>
                <a:spcPct val="115000"/>
              </a:lnSpc>
              <a:spcBef>
                <a:spcPts val="0"/>
              </a:spcBef>
              <a:spcAft>
                <a:spcPts val="800"/>
              </a:spcAft>
            </a:pPr>
            <a:r>
              <a:rPr sz="1700" b="0" i="0">
                <a:solidFill>
                  <a:srgbClr val="141B2D"/>
                </a:solidFill>
                <a:latin typeface="Calibri"/>
              </a:rPr>
              <a:t>1.  My decision to exclude the announcement drafts from the estimates.</a:t>
            </a:r>
          </a:p>
          <a:p>
            <a:pPr>
              <a:lnSpc>
                <a:spcPct val="115000"/>
              </a:lnSpc>
              <a:spcBef>
                <a:spcPts val="0"/>
              </a:spcBef>
              <a:spcAft>
                <a:spcPts val="0"/>
              </a:spcAft>
            </a:pPr>
            <a:r>
              <a:rPr sz="1700" b="0" i="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