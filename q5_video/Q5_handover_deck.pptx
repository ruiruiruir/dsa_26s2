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~19s]</a:t>
            </a:r>
          </a:p>
          <a:p/>
          <a:p>
            <a:r>
              <a:t>Hello. I'm handing over the analysis behind the IR team's estimates of how the market will react to our three upcoming readouts. My position: it's fit to inform those estimates, but not to produce a headline number, and it's far stronger on the downside than the upside.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[0:19 — ~43s]</a:t>
            </a:r>
          </a:p>
          <a:p/>
          <a:p>
            <a:r>
              <a:t>Four stages.</a:t>
            </a:r>
          </a:p>
          <a:p/>
          <a:p>
            <a:r>
              <a:t>I validated the LLM's outcome labels — thirty filings read by hand against the original 8-Ks, then all 2,392 directional labels checked against the price move that followed. That gave a screen scoring all 4,539 classifications, which flags forty per cent, mostly for timing rather than a wrong label.</a:t>
            </a:r>
          </a:p>
          <a:p/>
          <a:p>
            <a:r>
              <a:t>I grouped 1,975 historical readouts into eight families, on disease, design, stage and sponsor, to find comparables.</a:t>
            </a:r>
          </a:p>
          <a:p/>
          <a:p>
            <a:r>
              <a:t>I modelled the three-day abnormal return from trial, text and company features; it explains twenty per cent of the variation.</a:t>
            </a:r>
          </a:p>
          <a:p/>
          <a:p>
            <a:r>
              <a:t>Then I applied that to our three readouts, three scenarios each, with a monitoring plan.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script of its own — this frame carries the verdict while you move from what you built into the evidence for it. Land on it as you say 'so, three things I'd stand behind', then advance.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[1:02 — ~45s]</a:t>
            </a:r>
          </a:p>
          <a:p/>
          <a:p>
            <a:r>
              <a:t>So, three things I'd stand behind.</a:t>
            </a:r>
          </a:p>
          <a:p/>
          <a:p>
            <a:r>
              <a:t>The ordering. For all three assets a negative readout is materially worse than a positive one, by eleven to twenty-seven points of central estimate, and that survives every seed.</a:t>
            </a:r>
          </a:p>
          <a:p/>
          <a:p>
            <a:r>
              <a:t>The downside for ASC-204. It sits in a cluster of 266 cardiovascular and renal outcome trials, 246 in the same therapeutic area, with 34 negative readouts behind it. That's the estimate I'd let the funding decision rest on.</a:t>
            </a:r>
          </a:p>
          <a:p/>
          <a:p>
            <a:r>
              <a:t>[CUT IF LONG] And severity ranking: 61 per cent of the announcements in the model's worst decile fell more than ten per cent. It sorts readouts into 'could be severe' and 'probably won't be', not into a number.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[1:47 — ~52s]</a:t>
            </a:r>
          </a:p>
          <a:p/>
          <a:p>
            <a:r>
              <a:t>Now the limits, and they're real.</a:t>
            </a:r>
          </a:p>
          <a:p/>
          <a:p>
            <a:r>
              <a:t>ASC-101 has effectively no comparables. The dataset holds seven hereditary angioedema readouts in total, so my method matched it to vaccine trials on design, having nothing to match on disease. That number is a Phase 3 base rate wearing a comparable set's clothes.</a:t>
            </a:r>
          </a:p>
          <a:p/>
          <a:p>
            <a:r>
              <a:t>The upside is close to unmodelled — three per cent of the spread within positive readouts, and effectively nothing with the features Asclepius can supply. For an upside case, quote the historical range.</a:t>
            </a:r>
          </a:p>
          <a:p/>
          <a:p>
            <a:r>
              <a:t>And the dataset supplies no price series for Asclepius — a gap in the data, not a fact about the company. Volatility is most of what let the model size a bad outcome, so the bands are about 69 points wide, and correctly so.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[2:39 — ~47s]</a:t>
            </a:r>
          </a:p>
          <a:p/>
          <a:p>
            <a:r>
              <a:t>I used Claude, through Claude Code, heavily and throughout — to write and debug the code, to surface result sentences from the filings for me to read, and to draft commentary I rewrote. The full conversations are in the submitted log.</a:t>
            </a:r>
          </a:p>
          <a:p/>
          <a:p>
            <a:r>
              <a:t>What I didn't delegate was the judgement. I set the constraints: no feature unobservable before the event, and the announcement drafts excluded entirely, because they were written to express the assumed outcome. The thirty filings are my reading, not its summary.</a:t>
            </a:r>
          </a:p>
          <a:p/>
          <a:p>
            <a:r>
              <a:t>And I corrected it. It mapped all three mixed scenarios to mixed-positive; I read the ASC-204 draft, saw a missed primary endpoint rescued by a subgroup, and moved it to mixed-negative.</a:t>
            </a:r>
          </a:p>
          <a:p/>
          <a:p>
            <a:r>
              <a:t>(If asked for more: it hard-coded a cluster by number, which breaks because k-means relabels on refit; and its first ablation conflated losing the text with losing the price history, so I had it split the comparison.)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[3:26 — ~45s]</a:t>
            </a:r>
          </a:p>
          <a:p/>
          <a:p>
            <a:r>
              <a:t>On checking. I ran a leakage audit before fitting anything: with the nine excluded columns put back, R-squared goes from 0.20 to 0.96. The one that mattered was my own data-quality index — worth 0.14, until I traced it to one signal built from the realised return. That's the leakage that survives review; the name gives nothing away.</a:t>
            </a:r>
          </a:p>
          <a:p/>
          <a:p>
            <a:r>
              <a:t>[CUT IF LONG] I validated against honest nulls — permuted features, bootstrap by filing rather than by row, and forward chaining, which drops R-squared to 0.17. That's what the pipeline can deliver.</a:t>
            </a:r>
          </a:p>
          <a:p/>
          <a:p>
            <a:r>
              <a:t>And I corrected my own claims: I'd told the team the range width was mainly the unknown result. It's about a quarter.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[4:11 — ~29s]</a:t>
            </a:r>
          </a:p>
          <a:p/>
          <a:p>
            <a:r>
              <a:t>Under PG1 I'm responsible for the judgements here regardless of what produced the first draft of them — which means understanding the model before relying on it, and judging whether its assumptions suit the purpose.</a:t>
            </a:r>
          </a:p>
          <a:p/>
          <a:p>
            <a:r>
              <a:t>If your time is limited, I'd put it on two things: my decision to exclude the announcement drafts, and whether the ASC-101 estimate should go in front of the board at all. Thank you.</a:t>
            </a:r>
          </a:p>
          <a:p/>
          <a:p>
            <a:r>
              <a:t>END — target 4:40, limit 5:00.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85800"/>
            <a:ext cx="4663440" cy="5486400"/>
          </a:xfrm>
          <a:prstGeom prst="roundRect">
            <a:avLst>
              <a:gd name="adj" fmla="val 2000"/>
            </a:avLst>
          </a:prstGeom>
          <a:solidFill>
            <a:srgbClr val="EDF0F5"/>
          </a:solidFill>
          <a:ln w="12700">
            <a:solidFill>
              <a:srgbClr val="C2CBD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9AA4B2"/>
                </a:solidFill>
                <a:latin typeface="Calibri"/>
              </a:rPr>
              <a:t>VIDEO</a:t>
            </a:r>
          </a:p>
          <a:p>
            <a:pPr algn="ctr">
              <a:spcBef>
                <a:spcPts val="400"/>
              </a:spcBef>
            </a:pPr>
            <a:r>
              <a:rPr sz="900">
                <a:solidFill>
                  <a:srgbClr val="9AA4B2"/>
                </a:solidFill>
                <a:latin typeface="Calibri"/>
              </a:rPr>
              <a:t>place your camera here · delete this shape before recording</a:t>
            </a:r>
          </a:p>
        </p:txBody>
      </p:sp>
      <p:sp>
        <p:nvSpPr>
          <p:cNvPr id="4" name="TextBox 3"/>
          <p:cNvSpPr txBox="1"/>
          <p:nvPr/>
        </p:nvSpPr>
        <p:spPr>
          <a:xfrm>
            <a:off x="5532120" y="1737360"/>
            <a:ext cx="6110935" cy="3108960"/>
          </a:xfrm>
          <a:prstGeom prst="rect">
            <a:avLst/>
          </a:prstGeom>
          <a:noFill/>
        </p:spPr>
        <p:txBody>
          <a:bodyPr wrap="square">
            <a:spAutoFit/>
          </a:bodyPr>
          <a:lstStyle/>
          <a:p>
            <a:pPr>
              <a:lnSpc>
                <a:spcPct val="108000"/>
              </a:lnSpc>
              <a:spcBef>
                <a:spcPts val="0"/>
              </a:spcBef>
              <a:spcAft>
                <a:spcPts val="1000"/>
              </a:spcAft>
            </a:pPr>
            <a:r>
              <a:rPr sz="1200" b="1" i="0">
                <a:solidFill>
                  <a:srgbClr val="5A6478"/>
                </a:solidFill>
                <a:latin typeface="Calibri"/>
              </a:rPr>
              <a:t>DSA 2026 S2 — QUESTION 5</a:t>
            </a:r>
          </a:p>
          <a:p>
            <a:pPr>
              <a:lnSpc>
                <a:spcPct val="100000"/>
              </a:lnSpc>
              <a:spcBef>
                <a:spcPts val="0"/>
              </a:spcBef>
              <a:spcAft>
                <a:spcPts val="1400"/>
              </a:spcAft>
            </a:pPr>
            <a:r>
              <a:rPr sz="3600" b="1" i="0">
                <a:solidFill>
                  <a:srgbClr val="1F4E79"/>
                </a:solidFill>
                <a:latin typeface="Calibri"/>
              </a:rPr>
              <a:t>Handover to the
reviewing actuary</a:t>
            </a:r>
          </a:p>
          <a:p>
            <a:pPr>
              <a:lnSpc>
                <a:spcPct val="115000"/>
              </a:lnSpc>
              <a:spcBef>
                <a:spcPts val="0"/>
              </a:spcBef>
              <a:spcAft>
                <a:spcPts val="1800"/>
              </a:spcAft>
            </a:pPr>
            <a:r>
              <a:rPr sz="1700" b="0" i="0">
                <a:solidFill>
                  <a:srgbClr val="141B2D"/>
                </a:solidFill>
                <a:latin typeface="Calibri"/>
              </a:rPr>
              <a:t>Estimating market reactions to the ASC-101, ASC-204 and ASC-370 readouts</a:t>
            </a:r>
          </a:p>
          <a:p>
            <a:pPr>
              <a:lnSpc>
                <a:spcPct val="108000"/>
              </a:lnSpc>
              <a:spcBef>
                <a:spcPts val="0"/>
              </a:spcBef>
              <a:spcAft>
                <a:spcPts val="0"/>
              </a:spcAft>
            </a:pPr>
            <a:r>
              <a:rPr sz="1400" b="0" i="0">
                <a:solidFill>
                  <a:srgbClr val="5A6478"/>
                </a:solidFill>
                <a:latin typeface="Calibri"/>
              </a:rPr>
              <a:t>Member ID: [INSERT]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85800"/>
            <a:ext cx="4663440" cy="5486400"/>
          </a:xfrm>
          <a:prstGeom prst="roundRect">
            <a:avLst>
              <a:gd name="adj" fmla="val 2000"/>
            </a:avLst>
          </a:prstGeom>
          <a:solidFill>
            <a:srgbClr val="EDF0F5"/>
          </a:solidFill>
          <a:ln w="12700">
            <a:solidFill>
              <a:srgbClr val="C2CBD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9AA4B2"/>
                </a:solidFill>
                <a:latin typeface="Calibri"/>
              </a:rPr>
              <a:t>VIDEO</a:t>
            </a:r>
          </a:p>
          <a:p>
            <a:pPr algn="ctr">
              <a:spcBef>
                <a:spcPts val="400"/>
              </a:spcBef>
            </a:pPr>
            <a:r>
              <a:rPr sz="900">
                <a:solidFill>
                  <a:srgbClr val="9AA4B2"/>
                </a:solidFill>
                <a:latin typeface="Calibri"/>
              </a:rPr>
              <a:t>place your camera here · delete this shape before recording</a:t>
            </a:r>
          </a:p>
        </p:txBody>
      </p:sp>
      <p:sp>
        <p:nvSpPr>
          <p:cNvPr id="4" name="TextBox 3"/>
          <p:cNvSpPr txBox="1"/>
          <p:nvPr/>
        </p:nvSpPr>
        <p:spPr>
          <a:xfrm>
            <a:off x="5532120" y="685800"/>
            <a:ext cx="6110935" cy="1371600"/>
          </a:xfrm>
          <a:prstGeom prst="rect">
            <a:avLst/>
          </a:prstGeom>
          <a:noFill/>
        </p:spPr>
        <p:txBody>
          <a:bodyPr wrap="square">
            <a:spAutoFit/>
          </a:bodyPr>
          <a:lstStyle/>
          <a:p>
            <a:pPr>
              <a:lnSpc>
                <a:spcPct val="108000"/>
              </a:lnSpc>
              <a:spcBef>
                <a:spcPts val="0"/>
              </a:spcBef>
              <a:spcAft>
                <a:spcPts val="600"/>
              </a:spcAft>
            </a:pPr>
            <a:r>
              <a:rPr sz="1200" b="1" i="0">
                <a:solidFill>
                  <a:srgbClr val="5A6478"/>
                </a:solidFill>
                <a:latin typeface="Calibri"/>
              </a:rPr>
              <a:t>WHAT I BUILT</a:t>
            </a:r>
          </a:p>
          <a:p>
            <a:pPr>
              <a:lnSpc>
                <a:spcPct val="100000"/>
              </a:lnSpc>
              <a:spcBef>
                <a:spcPts val="0"/>
              </a:spcBef>
              <a:spcAft>
                <a:spcPts val="0"/>
              </a:spcAft>
            </a:pPr>
            <a:r>
              <a:rPr sz="3000" b="1" i="0">
                <a:solidFill>
                  <a:srgbClr val="1F4E79"/>
                </a:solidFill>
                <a:latin typeface="Calibri"/>
              </a:rPr>
              <a:t>Four stages</a:t>
            </a:r>
          </a:p>
        </p:txBody>
      </p:sp>
      <p:sp>
        <p:nvSpPr>
          <p:cNvPr id="5" name="Rectangle 4"/>
          <p:cNvSpPr/>
          <p:nvPr/>
        </p:nvSpPr>
        <p:spPr>
          <a:xfrm>
            <a:off x="5532120" y="1847088"/>
            <a:ext cx="1371600" cy="381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32120" y="2121408"/>
            <a:ext cx="6110935" cy="4114800"/>
          </a:xfrm>
          <a:prstGeom prst="rect">
            <a:avLst/>
          </a:prstGeom>
          <a:noFill/>
        </p:spPr>
        <p:txBody>
          <a:bodyPr wrap="square">
            <a:spAutoFit/>
          </a:bodyPr>
          <a:lstStyle/>
          <a:p>
            <a:pPr>
              <a:lnSpc>
                <a:spcPct val="108000"/>
              </a:lnSpc>
              <a:spcBef>
                <a:spcPts val="0"/>
              </a:spcBef>
              <a:spcAft>
                <a:spcPts val="300"/>
              </a:spcAft>
            </a:pPr>
            <a:r>
              <a:rPr sz="1800" b="1" i="0">
                <a:solidFill>
                  <a:srgbClr val="141B2D"/>
                </a:solidFill>
                <a:latin typeface="Calibri"/>
              </a:rPr>
              <a:t>Validated the outcome labels.</a:t>
            </a:r>
          </a:p>
          <a:p>
            <a:pPr>
              <a:lnSpc>
                <a:spcPct val="112000"/>
              </a:lnSpc>
              <a:spcBef>
                <a:spcPts val="0"/>
              </a:spcBef>
              <a:spcAft>
                <a:spcPts val="0"/>
              </a:spcAft>
            </a:pPr>
            <a:r>
              <a:rPr sz="1400" b="0" i="0">
                <a:solidFill>
                  <a:srgbClr val="5A6478"/>
                </a:solidFill>
                <a:latin typeface="Calibri"/>
              </a:rPr>
              <a:t>30 filings read by hand · all 2,392 directional labels checked against the realised move · a screen over all 4,539 classifications flags 40%, mostly timing rather than wrong labels.</a:t>
            </a:r>
          </a:p>
          <a:p>
            <a:pPr>
              <a:lnSpc>
                <a:spcPct val="108000"/>
              </a:lnSpc>
              <a:spcBef>
                <a:spcPts val="1200"/>
              </a:spcBef>
              <a:spcAft>
                <a:spcPts val="300"/>
              </a:spcAft>
            </a:pPr>
            <a:r>
              <a:rPr sz="1800" b="1" i="0">
                <a:solidFill>
                  <a:srgbClr val="141B2D"/>
                </a:solidFill>
                <a:latin typeface="Calibri"/>
              </a:rPr>
              <a:t>Grouped 1,975 readouts into eight families.</a:t>
            </a:r>
          </a:p>
          <a:p>
            <a:pPr>
              <a:lnSpc>
                <a:spcPct val="112000"/>
              </a:lnSpc>
              <a:spcBef>
                <a:spcPts val="0"/>
              </a:spcBef>
              <a:spcAft>
                <a:spcPts val="0"/>
              </a:spcAft>
            </a:pPr>
            <a:r>
              <a:rPr sz="1400" b="0" i="0">
                <a:solidFill>
                  <a:srgbClr val="5A6478"/>
                </a:solidFill>
                <a:latin typeface="Calibri"/>
              </a:rPr>
              <a:t>Disease, design, stage and sponsor — to find comparables for each readout.</a:t>
            </a:r>
          </a:p>
          <a:p>
            <a:pPr>
              <a:lnSpc>
                <a:spcPct val="108000"/>
              </a:lnSpc>
              <a:spcBef>
                <a:spcPts val="1200"/>
              </a:spcBef>
              <a:spcAft>
                <a:spcPts val="300"/>
              </a:spcAft>
            </a:pPr>
            <a:r>
              <a:rPr sz="1800" b="1" i="0">
                <a:solidFill>
                  <a:srgbClr val="141B2D"/>
                </a:solidFill>
                <a:latin typeface="Calibri"/>
              </a:rPr>
              <a:t>Modelled the three-day abnormal return.</a:t>
            </a:r>
          </a:p>
          <a:p>
            <a:pPr>
              <a:lnSpc>
                <a:spcPct val="112000"/>
              </a:lnSpc>
              <a:spcBef>
                <a:spcPts val="0"/>
              </a:spcBef>
              <a:spcAft>
                <a:spcPts val="0"/>
              </a:spcAft>
            </a:pPr>
            <a:r>
              <a:rPr sz="1400" b="0" i="0">
                <a:solidFill>
                  <a:srgbClr val="5A6478"/>
                </a:solidFill>
                <a:latin typeface="Calibri"/>
              </a:rPr>
              <a:t>Trial, text and company features, scored on held-out announcements. Explains 20%.</a:t>
            </a:r>
          </a:p>
          <a:p>
            <a:pPr>
              <a:lnSpc>
                <a:spcPct val="108000"/>
              </a:lnSpc>
              <a:spcBef>
                <a:spcPts val="1200"/>
              </a:spcBef>
              <a:spcAft>
                <a:spcPts val="300"/>
              </a:spcAft>
            </a:pPr>
            <a:r>
              <a:rPr sz="1800" b="1" i="0">
                <a:solidFill>
                  <a:srgbClr val="141B2D"/>
                </a:solidFill>
                <a:latin typeface="Calibri"/>
              </a:rPr>
              <a:t>Applied it to the three readouts.</a:t>
            </a:r>
          </a:p>
          <a:p>
            <a:pPr>
              <a:lnSpc>
                <a:spcPct val="112000"/>
              </a:lnSpc>
              <a:spcBef>
                <a:spcPts val="0"/>
              </a:spcBef>
              <a:spcAft>
                <a:spcPts val="0"/>
              </a:spcAft>
            </a:pPr>
            <a:r>
              <a:rPr sz="1400" b="0" i="0">
                <a:solidFill>
                  <a:srgbClr val="5A6478"/>
                </a:solidFill>
                <a:latin typeface="Calibri"/>
              </a:rPr>
              <a:t>Three scenarios each, plus a validation, monitoring and refresh plan.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85800"/>
            <a:ext cx="4663440" cy="5486400"/>
          </a:xfrm>
          <a:prstGeom prst="roundRect">
            <a:avLst>
              <a:gd name="adj" fmla="val 2000"/>
            </a:avLst>
          </a:prstGeom>
          <a:solidFill>
            <a:srgbClr val="EDF0F5"/>
          </a:solidFill>
          <a:ln w="12700">
            <a:solidFill>
              <a:srgbClr val="C2CBD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9AA4B2"/>
                </a:solidFill>
                <a:latin typeface="Calibri"/>
              </a:rPr>
              <a:t>VIDEO</a:t>
            </a:r>
          </a:p>
          <a:p>
            <a:pPr algn="ctr">
              <a:spcBef>
                <a:spcPts val="400"/>
              </a:spcBef>
            </a:pPr>
            <a:r>
              <a:rPr sz="900">
                <a:solidFill>
                  <a:srgbClr val="9AA4B2"/>
                </a:solidFill>
                <a:latin typeface="Calibri"/>
              </a:rPr>
              <a:t>place your camera here · delete this shape before recording</a:t>
            </a:r>
          </a:p>
        </p:txBody>
      </p:sp>
      <p:sp>
        <p:nvSpPr>
          <p:cNvPr id="4" name="TextBox 3"/>
          <p:cNvSpPr txBox="1"/>
          <p:nvPr/>
        </p:nvSpPr>
        <p:spPr>
          <a:xfrm>
            <a:off x="5532120" y="685800"/>
            <a:ext cx="6110935" cy="1371600"/>
          </a:xfrm>
          <a:prstGeom prst="rect">
            <a:avLst/>
          </a:prstGeom>
          <a:noFill/>
        </p:spPr>
        <p:txBody>
          <a:bodyPr wrap="square">
            <a:spAutoFit/>
          </a:bodyPr>
          <a:lstStyle/>
          <a:p>
            <a:pPr>
              <a:lnSpc>
                <a:spcPct val="108000"/>
              </a:lnSpc>
              <a:spcBef>
                <a:spcPts val="0"/>
              </a:spcBef>
              <a:spcAft>
                <a:spcPts val="600"/>
              </a:spcAft>
            </a:pPr>
            <a:r>
              <a:rPr sz="1200" b="1" i="0">
                <a:solidFill>
                  <a:srgbClr val="5A6478"/>
                </a:solidFill>
                <a:latin typeface="Calibri"/>
              </a:rPr>
              <a:t>MY OPINION</a:t>
            </a:r>
          </a:p>
          <a:p>
            <a:pPr>
              <a:lnSpc>
                <a:spcPct val="100000"/>
              </a:lnSpc>
              <a:spcBef>
                <a:spcPts val="0"/>
              </a:spcBef>
              <a:spcAft>
                <a:spcPts val="0"/>
              </a:spcAft>
            </a:pPr>
            <a:r>
              <a:rPr sz="3000" b="1" i="0">
                <a:solidFill>
                  <a:srgbClr val="1F4E79"/>
                </a:solidFill>
                <a:latin typeface="Calibri"/>
              </a:rPr>
              <a:t>Rely on it to inform —
not to produce a number</a:t>
            </a:r>
          </a:p>
        </p:txBody>
      </p:sp>
      <p:sp>
        <p:nvSpPr>
          <p:cNvPr id="5" name="Rectangle 4"/>
          <p:cNvSpPr/>
          <p:nvPr/>
        </p:nvSpPr>
        <p:spPr>
          <a:xfrm>
            <a:off x="5532120" y="2121408"/>
            <a:ext cx="1371600" cy="381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32120" y="2395728"/>
            <a:ext cx="6110935" cy="3657600"/>
          </a:xfrm>
          <a:prstGeom prst="rect">
            <a:avLst/>
          </a:prstGeom>
          <a:noFill/>
        </p:spPr>
        <p:txBody>
          <a:bodyPr wrap="square">
            <a:spAutoFit/>
          </a:bodyPr>
          <a:lstStyle/>
          <a:p>
            <a:pPr>
              <a:lnSpc>
                <a:spcPct val="108000"/>
              </a:lnSpc>
              <a:spcBef>
                <a:spcPts val="0"/>
              </a:spcBef>
              <a:spcAft>
                <a:spcPts val="400"/>
              </a:spcAft>
            </a:pPr>
            <a:r>
              <a:rPr sz="2100" b="1" i="0">
                <a:solidFill>
                  <a:srgbClr val="141B2D"/>
                </a:solidFill>
                <a:latin typeface="Calibri"/>
              </a:rPr>
              <a:t>Strong on the downside.</a:t>
            </a:r>
          </a:p>
          <a:p>
            <a:pPr>
              <a:lnSpc>
                <a:spcPct val="108000"/>
              </a:lnSpc>
              <a:spcBef>
                <a:spcPts val="0"/>
              </a:spcBef>
              <a:spcAft>
                <a:spcPts val="1600"/>
              </a:spcAft>
            </a:pPr>
            <a:r>
              <a:rPr sz="1500" b="0" i="0">
                <a:solidFill>
                  <a:srgbClr val="5A6478"/>
                </a:solidFill>
                <a:latin typeface="Calibri"/>
              </a:rPr>
              <a:t>R² = 0.31 within negative readouts</a:t>
            </a:r>
          </a:p>
          <a:p>
            <a:pPr>
              <a:lnSpc>
                <a:spcPct val="108000"/>
              </a:lnSpc>
              <a:spcBef>
                <a:spcPts val="0"/>
              </a:spcBef>
              <a:spcAft>
                <a:spcPts val="400"/>
              </a:spcAft>
            </a:pPr>
            <a:r>
              <a:rPr sz="2100" b="1" i="0">
                <a:solidFill>
                  <a:srgbClr val="A8322D"/>
                </a:solidFill>
                <a:latin typeface="Calibri"/>
              </a:rPr>
              <a:t>Weak on the upside.</a:t>
            </a:r>
          </a:p>
          <a:p>
            <a:pPr>
              <a:lnSpc>
                <a:spcPct val="108000"/>
              </a:lnSpc>
              <a:spcBef>
                <a:spcPts val="0"/>
              </a:spcBef>
              <a:spcAft>
                <a:spcPts val="1600"/>
              </a:spcAft>
            </a:pPr>
            <a:r>
              <a:rPr sz="1500" b="0" i="0">
                <a:solidFill>
                  <a:srgbClr val="5A6478"/>
                </a:solidFill>
                <a:latin typeface="Calibri"/>
              </a:rPr>
              <a:t>R² = 0.03 within positive readouts — use history, not the model</a:t>
            </a:r>
          </a:p>
          <a:p>
            <a:pPr>
              <a:lnSpc>
                <a:spcPct val="108000"/>
              </a:lnSpc>
              <a:spcBef>
                <a:spcPts val="0"/>
              </a:spcBef>
              <a:spcAft>
                <a:spcPts val="400"/>
              </a:spcAft>
            </a:pPr>
            <a:r>
              <a:rPr sz="2100" b="1" i="0">
                <a:solidFill>
                  <a:srgbClr val="141B2D"/>
                </a:solidFill>
                <a:latin typeface="Calibri"/>
              </a:rPr>
              <a:t>Not a forecast, a ranking.</a:t>
            </a:r>
          </a:p>
          <a:p>
            <a:pPr>
              <a:lnSpc>
                <a:spcPct val="108000"/>
              </a:lnSpc>
              <a:spcBef>
                <a:spcPts val="0"/>
              </a:spcBef>
              <a:spcAft>
                <a:spcPts val="0"/>
              </a:spcAft>
            </a:pPr>
            <a:r>
              <a:rPr sz="1500" b="0" i="0">
                <a:solidFill>
                  <a:srgbClr val="5A6478"/>
                </a:solidFill>
                <a:latin typeface="Calibri"/>
              </a:rPr>
              <a:t>Typical error on a single event is about 21 percentage points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85800"/>
            <a:ext cx="4663440" cy="5486400"/>
          </a:xfrm>
          <a:prstGeom prst="roundRect">
            <a:avLst>
              <a:gd name="adj" fmla="val 2000"/>
            </a:avLst>
          </a:prstGeom>
          <a:solidFill>
            <a:srgbClr val="EDF0F5"/>
          </a:solidFill>
          <a:ln w="12700">
            <a:solidFill>
              <a:srgbClr val="C2CBD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9AA4B2"/>
                </a:solidFill>
                <a:latin typeface="Calibri"/>
              </a:rPr>
              <a:t>VIDEO</a:t>
            </a:r>
          </a:p>
          <a:p>
            <a:pPr algn="ctr">
              <a:spcBef>
                <a:spcPts val="400"/>
              </a:spcBef>
            </a:pPr>
            <a:r>
              <a:rPr sz="900">
                <a:solidFill>
                  <a:srgbClr val="9AA4B2"/>
                </a:solidFill>
                <a:latin typeface="Calibri"/>
              </a:rPr>
              <a:t>place your camera here · delete this shape before recording</a:t>
            </a:r>
          </a:p>
        </p:txBody>
      </p:sp>
      <p:sp>
        <p:nvSpPr>
          <p:cNvPr id="4" name="TextBox 3"/>
          <p:cNvSpPr txBox="1"/>
          <p:nvPr/>
        </p:nvSpPr>
        <p:spPr>
          <a:xfrm>
            <a:off x="5532120" y="685800"/>
            <a:ext cx="6110935" cy="1371600"/>
          </a:xfrm>
          <a:prstGeom prst="rect">
            <a:avLst/>
          </a:prstGeom>
          <a:noFill/>
        </p:spPr>
        <p:txBody>
          <a:bodyPr wrap="square">
            <a:spAutoFit/>
          </a:bodyPr>
          <a:lstStyle/>
          <a:p>
            <a:pPr>
              <a:lnSpc>
                <a:spcPct val="108000"/>
              </a:lnSpc>
              <a:spcBef>
                <a:spcPts val="0"/>
              </a:spcBef>
              <a:spcAft>
                <a:spcPts val="600"/>
              </a:spcAft>
            </a:pPr>
            <a:r>
              <a:rPr sz="1200" b="1" i="0">
                <a:solidFill>
                  <a:srgbClr val="5A6478"/>
                </a:solidFill>
                <a:latin typeface="Calibri"/>
              </a:rPr>
              <a:t>WHAT THE ANALYSIS SUPPORTS</a:t>
            </a:r>
          </a:p>
          <a:p>
            <a:pPr>
              <a:lnSpc>
                <a:spcPct val="100000"/>
              </a:lnSpc>
              <a:spcBef>
                <a:spcPts val="0"/>
              </a:spcBef>
              <a:spcAft>
                <a:spcPts val="0"/>
              </a:spcAft>
            </a:pPr>
            <a:r>
              <a:rPr sz="3000" b="1" i="0">
                <a:solidFill>
                  <a:srgbClr val="1F4E79"/>
                </a:solidFill>
                <a:latin typeface="Calibri"/>
              </a:rPr>
              <a:t>Three things I'd
stand behind</a:t>
            </a:r>
          </a:p>
        </p:txBody>
      </p:sp>
      <p:sp>
        <p:nvSpPr>
          <p:cNvPr id="5" name="Rectangle 4"/>
          <p:cNvSpPr/>
          <p:nvPr/>
        </p:nvSpPr>
        <p:spPr>
          <a:xfrm>
            <a:off x="5532120" y="1847088"/>
            <a:ext cx="1371600" cy="381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32120" y="2121408"/>
            <a:ext cx="6110935" cy="4114800"/>
          </a:xfrm>
          <a:prstGeom prst="rect">
            <a:avLst/>
          </a:prstGeom>
          <a:noFill/>
        </p:spPr>
        <p:txBody>
          <a:bodyPr wrap="square">
            <a:spAutoFit/>
          </a:bodyPr>
          <a:lstStyle/>
          <a:p>
            <a:pPr>
              <a:lnSpc>
                <a:spcPct val="108000"/>
              </a:lnSpc>
              <a:spcBef>
                <a:spcPts val="0"/>
              </a:spcBef>
              <a:spcAft>
                <a:spcPts val="300"/>
              </a:spcAft>
            </a:pPr>
            <a:r>
              <a:rPr sz="1900" b="1" i="0">
                <a:solidFill>
                  <a:srgbClr val="141B2D"/>
                </a:solidFill>
                <a:latin typeface="Calibri"/>
              </a:rPr>
              <a:t>The ordering is reliable.</a:t>
            </a:r>
          </a:p>
          <a:p>
            <a:pPr>
              <a:lnSpc>
                <a:spcPct val="112000"/>
              </a:lnSpc>
              <a:spcBef>
                <a:spcPts val="0"/>
              </a:spcBef>
              <a:spcAft>
                <a:spcPts val="0"/>
              </a:spcAft>
            </a:pPr>
            <a:r>
              <a:rPr sz="1500" b="0" i="0">
                <a:solidFill>
                  <a:srgbClr val="5A6478"/>
                </a:solidFill>
                <a:latin typeface="Calibri"/>
              </a:rPr>
              <a:t>Negative vs positive separated by 11–27 points of central estimate, for all three assets, and it survives every seed.</a:t>
            </a:r>
          </a:p>
          <a:p>
            <a:pPr>
              <a:lnSpc>
                <a:spcPct val="108000"/>
              </a:lnSpc>
              <a:spcBef>
                <a:spcPts val="1400"/>
              </a:spcBef>
              <a:spcAft>
                <a:spcPts val="300"/>
              </a:spcAft>
            </a:pPr>
            <a:r>
              <a:rPr sz="1900" b="1" i="0">
                <a:solidFill>
                  <a:srgbClr val="141B2D"/>
                </a:solidFill>
                <a:latin typeface="Calibri"/>
              </a:rPr>
              <a:t>ASC-204's downside is well evidenced.</a:t>
            </a:r>
          </a:p>
          <a:p>
            <a:pPr>
              <a:lnSpc>
                <a:spcPct val="112000"/>
              </a:lnSpc>
              <a:spcBef>
                <a:spcPts val="0"/>
              </a:spcBef>
              <a:spcAft>
                <a:spcPts val="0"/>
              </a:spcAft>
            </a:pPr>
            <a:r>
              <a:rPr sz="1500" b="0" i="0">
                <a:solidFill>
                  <a:srgbClr val="5A6478"/>
                </a:solidFill>
                <a:latin typeface="Calibri"/>
              </a:rPr>
              <a:t>266-trial cardiovascular and renal cluster · 246 in the same therapeutic area · 34 negative readouts behind the distribution.</a:t>
            </a:r>
          </a:p>
          <a:p>
            <a:pPr>
              <a:lnSpc>
                <a:spcPct val="108000"/>
              </a:lnSpc>
              <a:spcBef>
                <a:spcPts val="1400"/>
              </a:spcBef>
              <a:spcAft>
                <a:spcPts val="300"/>
              </a:spcAft>
            </a:pPr>
            <a:r>
              <a:rPr sz="1900" b="1" i="0">
                <a:solidFill>
                  <a:srgbClr val="141B2D"/>
                </a:solidFill>
                <a:latin typeface="Calibri"/>
              </a:rPr>
              <a:t>It ranks severity.</a:t>
            </a:r>
          </a:p>
          <a:p>
            <a:pPr>
              <a:lnSpc>
                <a:spcPct val="112000"/>
              </a:lnSpc>
              <a:spcBef>
                <a:spcPts val="0"/>
              </a:spcBef>
              <a:spcAft>
                <a:spcPts val="0"/>
              </a:spcAft>
            </a:pPr>
            <a:r>
              <a:rPr sz="1500" b="0" i="0">
                <a:solidFill>
                  <a:srgbClr val="5A6478"/>
                </a:solidFill>
                <a:latin typeface="Calibri"/>
              </a:rPr>
              <a:t>Worst-ranked decile: 61% fell more than 10%, 43% more than 25%. AUC 0.78 for a fall beyond 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85800"/>
            <a:ext cx="4663440" cy="5486400"/>
          </a:xfrm>
          <a:prstGeom prst="roundRect">
            <a:avLst>
              <a:gd name="adj" fmla="val 2000"/>
            </a:avLst>
          </a:prstGeom>
          <a:solidFill>
            <a:srgbClr val="EDF0F5"/>
          </a:solidFill>
          <a:ln w="12700">
            <a:solidFill>
              <a:srgbClr val="C2CBD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9AA4B2"/>
                </a:solidFill>
                <a:latin typeface="Calibri"/>
              </a:rPr>
              <a:t>VIDEO</a:t>
            </a:r>
          </a:p>
          <a:p>
            <a:pPr algn="ctr">
              <a:spcBef>
                <a:spcPts val="400"/>
              </a:spcBef>
            </a:pPr>
            <a:r>
              <a:rPr sz="900">
                <a:solidFill>
                  <a:srgbClr val="9AA4B2"/>
                </a:solidFill>
                <a:latin typeface="Calibri"/>
              </a:rPr>
              <a:t>place your camera here · delete this shape before recording</a:t>
            </a:r>
          </a:p>
        </p:txBody>
      </p:sp>
      <p:sp>
        <p:nvSpPr>
          <p:cNvPr id="4" name="TextBox 3"/>
          <p:cNvSpPr txBox="1"/>
          <p:nvPr/>
        </p:nvSpPr>
        <p:spPr>
          <a:xfrm>
            <a:off x="5532120" y="685800"/>
            <a:ext cx="6110935" cy="1371600"/>
          </a:xfrm>
          <a:prstGeom prst="rect">
            <a:avLst/>
          </a:prstGeom>
          <a:noFill/>
        </p:spPr>
        <p:txBody>
          <a:bodyPr wrap="square">
            <a:spAutoFit/>
          </a:bodyPr>
          <a:lstStyle/>
          <a:p>
            <a:pPr>
              <a:lnSpc>
                <a:spcPct val="108000"/>
              </a:lnSpc>
              <a:spcBef>
                <a:spcPts val="0"/>
              </a:spcBef>
              <a:spcAft>
                <a:spcPts val="600"/>
              </a:spcAft>
            </a:pPr>
            <a:r>
              <a:rPr sz="1200" b="1" i="0">
                <a:solidFill>
                  <a:srgbClr val="5A6478"/>
                </a:solidFill>
                <a:latin typeface="Calibri"/>
              </a:rPr>
              <a:t>WHERE IT SHOULD NOT BE RELIED UPON</a:t>
            </a:r>
          </a:p>
          <a:p>
            <a:pPr>
              <a:lnSpc>
                <a:spcPct val="100000"/>
              </a:lnSpc>
              <a:spcBef>
                <a:spcPts val="0"/>
              </a:spcBef>
              <a:spcAft>
                <a:spcPts val="0"/>
              </a:spcAft>
            </a:pPr>
            <a:r>
              <a:rPr sz="3000" b="1" i="0">
                <a:solidFill>
                  <a:srgbClr val="A8322D"/>
                </a:solidFill>
                <a:latin typeface="Calibri"/>
              </a:rPr>
              <a:t>Three limits,
and they are real</a:t>
            </a:r>
          </a:p>
        </p:txBody>
      </p:sp>
      <p:sp>
        <p:nvSpPr>
          <p:cNvPr id="5" name="Rectangle 4"/>
          <p:cNvSpPr/>
          <p:nvPr/>
        </p:nvSpPr>
        <p:spPr>
          <a:xfrm>
            <a:off x="5532120" y="1847088"/>
            <a:ext cx="1371600" cy="38100"/>
          </a:xfrm>
          <a:prstGeom prst="rect">
            <a:avLst/>
          </a:prstGeom>
          <a:solidFill>
            <a:srgbClr val="A83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32120" y="2121408"/>
            <a:ext cx="6110935" cy="4114800"/>
          </a:xfrm>
          <a:prstGeom prst="rect">
            <a:avLst/>
          </a:prstGeom>
          <a:noFill/>
        </p:spPr>
        <p:txBody>
          <a:bodyPr wrap="square">
            <a:spAutoFit/>
          </a:bodyPr>
          <a:lstStyle/>
          <a:p>
            <a:pPr>
              <a:lnSpc>
                <a:spcPct val="108000"/>
              </a:lnSpc>
              <a:spcBef>
                <a:spcPts val="0"/>
              </a:spcBef>
              <a:spcAft>
                <a:spcPts val="300"/>
              </a:spcAft>
            </a:pPr>
            <a:r>
              <a:rPr sz="1900" b="1" i="0">
                <a:solidFill>
                  <a:srgbClr val="141B2D"/>
                </a:solidFill>
                <a:latin typeface="Calibri"/>
              </a:rPr>
              <a:t>ASC-101 has effectively no comparables.</a:t>
            </a:r>
          </a:p>
          <a:p>
            <a:pPr>
              <a:lnSpc>
                <a:spcPct val="112000"/>
              </a:lnSpc>
              <a:spcBef>
                <a:spcPts val="0"/>
              </a:spcBef>
              <a:spcAft>
                <a:spcPts val="0"/>
              </a:spcAft>
            </a:pPr>
            <a:r>
              <a:rPr sz="1500" b="0" i="0">
                <a:solidFill>
                  <a:srgbClr val="5A6478"/>
                </a:solidFill>
                <a:latin typeface="Calibri"/>
              </a:rPr>
              <a:t>7 hereditary angioedema readouts in the whole dataset. Matched to vaccine trials on design because disease was unmatchable — a Phase 3 base rate, and it must be labelled as one.</a:t>
            </a:r>
          </a:p>
          <a:p>
            <a:pPr>
              <a:lnSpc>
                <a:spcPct val="108000"/>
              </a:lnSpc>
              <a:spcBef>
                <a:spcPts val="1400"/>
              </a:spcBef>
              <a:spcAft>
                <a:spcPts val="300"/>
              </a:spcAft>
            </a:pPr>
            <a:r>
              <a:rPr sz="1900" b="1" i="0">
                <a:solidFill>
                  <a:srgbClr val="141B2D"/>
                </a:solidFill>
                <a:latin typeface="Calibri"/>
              </a:rPr>
              <a:t>The upside is close to unmodelled.</a:t>
            </a:r>
          </a:p>
          <a:p>
            <a:pPr>
              <a:lnSpc>
                <a:spcPct val="112000"/>
              </a:lnSpc>
              <a:spcBef>
                <a:spcPts val="0"/>
              </a:spcBef>
              <a:spcAft>
                <a:spcPts val="0"/>
              </a:spcAft>
            </a:pPr>
            <a:r>
              <a:rPr sz="1500" b="0" i="0">
                <a:solidFill>
                  <a:srgbClr val="5A6478"/>
                </a:solidFill>
                <a:latin typeface="Calibri"/>
              </a:rPr>
              <a:t>R² ≈ 0.03 within positives, ~0 with the features Asclepius can supply. Quote the comparable-set range instead.</a:t>
            </a:r>
          </a:p>
          <a:p>
            <a:pPr>
              <a:lnSpc>
                <a:spcPct val="108000"/>
              </a:lnSpc>
              <a:spcBef>
                <a:spcPts val="1400"/>
              </a:spcBef>
              <a:spcAft>
                <a:spcPts val="300"/>
              </a:spcAft>
            </a:pPr>
            <a:r>
              <a:rPr sz="1900" b="1" i="0">
                <a:solidFill>
                  <a:srgbClr val="141B2D"/>
                </a:solidFill>
                <a:latin typeface="Calibri"/>
              </a:rPr>
              <a:t>The dataset supplies no price series for ASCL.</a:t>
            </a:r>
          </a:p>
          <a:p>
            <a:pPr>
              <a:lnSpc>
                <a:spcPct val="112000"/>
              </a:lnSpc>
              <a:spcBef>
                <a:spcPts val="0"/>
              </a:spcBef>
              <a:spcAft>
                <a:spcPts val="0"/>
              </a:spcAft>
            </a:pPr>
            <a:r>
              <a:rPr sz="1500" b="0" i="0">
                <a:solidFill>
                  <a:srgbClr val="5A6478"/>
                </a:solidFill>
                <a:latin typeface="Calibri"/>
              </a:rPr>
              <a:t>A gap in the data, not a fact about the company. Volatility did most of the work in sizing a bad outcome, so bands are ~69 points wide — correctly wide.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85800"/>
            <a:ext cx="4663440" cy="5486400"/>
          </a:xfrm>
          <a:prstGeom prst="roundRect">
            <a:avLst>
              <a:gd name="adj" fmla="val 2000"/>
            </a:avLst>
          </a:prstGeom>
          <a:solidFill>
            <a:srgbClr val="EDF0F5"/>
          </a:solidFill>
          <a:ln w="12700">
            <a:solidFill>
              <a:srgbClr val="C2CBD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9AA4B2"/>
                </a:solidFill>
                <a:latin typeface="Calibri"/>
              </a:rPr>
              <a:t>VIDEO</a:t>
            </a:r>
          </a:p>
          <a:p>
            <a:pPr algn="ctr">
              <a:spcBef>
                <a:spcPts val="400"/>
              </a:spcBef>
            </a:pPr>
            <a:r>
              <a:rPr sz="900">
                <a:solidFill>
                  <a:srgbClr val="9AA4B2"/>
                </a:solidFill>
                <a:latin typeface="Calibri"/>
              </a:rPr>
              <a:t>place your camera here · delete this shape before recording</a:t>
            </a:r>
          </a:p>
        </p:txBody>
      </p:sp>
      <p:sp>
        <p:nvSpPr>
          <p:cNvPr id="4" name="TextBox 3"/>
          <p:cNvSpPr txBox="1"/>
          <p:nvPr/>
        </p:nvSpPr>
        <p:spPr>
          <a:xfrm>
            <a:off x="5532120" y="685800"/>
            <a:ext cx="6110935" cy="1371600"/>
          </a:xfrm>
          <a:prstGeom prst="rect">
            <a:avLst/>
          </a:prstGeom>
          <a:noFill/>
        </p:spPr>
        <p:txBody>
          <a:bodyPr wrap="square">
            <a:spAutoFit/>
          </a:bodyPr>
          <a:lstStyle/>
          <a:p>
            <a:pPr>
              <a:lnSpc>
                <a:spcPct val="108000"/>
              </a:lnSpc>
              <a:spcBef>
                <a:spcPts val="0"/>
              </a:spcBef>
              <a:spcAft>
                <a:spcPts val="600"/>
              </a:spcAft>
            </a:pPr>
            <a:r>
              <a:rPr sz="1200" b="1" i="0">
                <a:solidFill>
                  <a:srgbClr val="5A6478"/>
                </a:solidFill>
                <a:latin typeface="Calibri"/>
              </a:rPr>
              <a:t>HOW THE WORK WAS PRODUCED</a:t>
            </a:r>
          </a:p>
          <a:p>
            <a:pPr>
              <a:lnSpc>
                <a:spcPct val="100000"/>
              </a:lnSpc>
              <a:spcBef>
                <a:spcPts val="0"/>
              </a:spcBef>
              <a:spcAft>
                <a:spcPts val="0"/>
              </a:spcAft>
            </a:pPr>
            <a:r>
              <a:rPr sz="3000" b="1" i="0">
                <a:solidFill>
                  <a:srgbClr val="1F4E79"/>
                </a:solidFill>
                <a:latin typeface="Calibri"/>
              </a:rPr>
              <a:t>AI throughout —
judgement not delegated</a:t>
            </a:r>
          </a:p>
        </p:txBody>
      </p:sp>
      <p:sp>
        <p:nvSpPr>
          <p:cNvPr id="5" name="Rectangle 4"/>
          <p:cNvSpPr/>
          <p:nvPr/>
        </p:nvSpPr>
        <p:spPr>
          <a:xfrm>
            <a:off x="5532120" y="1847088"/>
            <a:ext cx="1371600" cy="381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32120" y="2121408"/>
            <a:ext cx="6110935" cy="4114800"/>
          </a:xfrm>
          <a:prstGeom prst="rect">
            <a:avLst/>
          </a:prstGeom>
          <a:noFill/>
        </p:spPr>
        <p:txBody>
          <a:bodyPr wrap="square">
            <a:spAutoFit/>
          </a:bodyPr>
          <a:lstStyle/>
          <a:p>
            <a:pPr>
              <a:lnSpc>
                <a:spcPct val="108000"/>
              </a:lnSpc>
              <a:spcBef>
                <a:spcPts val="0"/>
              </a:spcBef>
              <a:spcAft>
                <a:spcPts val="300"/>
              </a:spcAft>
            </a:pPr>
            <a:r>
              <a:rPr sz="1900" b="1" i="0">
                <a:solidFill>
                  <a:srgbClr val="141B2D"/>
                </a:solidFill>
                <a:latin typeface="Calibri"/>
              </a:rPr>
              <a:t>Claude, via Claude Code, heavily and throughout.</a:t>
            </a:r>
          </a:p>
          <a:p>
            <a:pPr>
              <a:lnSpc>
                <a:spcPct val="112000"/>
              </a:lnSpc>
              <a:spcBef>
                <a:spcPts val="0"/>
              </a:spcBef>
              <a:spcAft>
                <a:spcPts val="0"/>
              </a:spcAft>
            </a:pPr>
            <a:r>
              <a:rPr sz="1500" b="0" i="0">
                <a:solidFill>
                  <a:srgbClr val="5A6478"/>
                </a:solidFill>
                <a:latin typeface="Calibri"/>
              </a:rPr>
              <a:t>Code written and debugged, result sentences pulled from the filings for me to read, commentary drafted and then rewritten. Full logs submitted.</a:t>
            </a:r>
          </a:p>
          <a:p>
            <a:pPr>
              <a:lnSpc>
                <a:spcPct val="108000"/>
              </a:lnSpc>
              <a:spcBef>
                <a:spcPts val="1400"/>
              </a:spcBef>
              <a:spcAft>
                <a:spcPts val="300"/>
              </a:spcAft>
            </a:pPr>
            <a:r>
              <a:rPr sz="1900" b="1" i="0">
                <a:solidFill>
                  <a:srgbClr val="141B2D"/>
                </a:solidFill>
                <a:latin typeface="Calibri"/>
              </a:rPr>
              <a:t>The constraints were mine.</a:t>
            </a:r>
          </a:p>
          <a:p>
            <a:pPr>
              <a:lnSpc>
                <a:spcPct val="112000"/>
              </a:lnSpc>
              <a:spcBef>
                <a:spcPts val="0"/>
              </a:spcBef>
              <a:spcAft>
                <a:spcPts val="0"/>
              </a:spcAft>
            </a:pPr>
            <a:r>
              <a:rPr sz="1500" b="0" i="0">
                <a:solidFill>
                  <a:srgbClr val="5A6478"/>
                </a:solidFill>
                <a:latin typeface="Calibri"/>
              </a:rPr>
              <a:t>No feature unobservable before the event. Announcement drafts excluded as circular. The 30 filings read against the 8-Ks are my reading.</a:t>
            </a:r>
          </a:p>
          <a:p>
            <a:pPr>
              <a:lnSpc>
                <a:spcPct val="108000"/>
              </a:lnSpc>
              <a:spcBef>
                <a:spcPts val="1400"/>
              </a:spcBef>
              <a:spcAft>
                <a:spcPts val="300"/>
              </a:spcAft>
            </a:pPr>
            <a:r>
              <a:rPr sz="1900" b="1" i="0">
                <a:solidFill>
                  <a:srgbClr val="141B2D"/>
                </a:solidFill>
                <a:latin typeface="Calibri"/>
              </a:rPr>
              <a:t>And I corrected it.</a:t>
            </a:r>
          </a:p>
          <a:p>
            <a:pPr>
              <a:lnSpc>
                <a:spcPct val="112000"/>
              </a:lnSpc>
              <a:spcBef>
                <a:spcPts val="0"/>
              </a:spcBef>
              <a:spcAft>
                <a:spcPts val="0"/>
              </a:spcAft>
            </a:pPr>
            <a:r>
              <a:rPr sz="1500" b="0" i="0">
                <a:solidFill>
                  <a:srgbClr val="5A6478"/>
                </a:solidFill>
                <a:latin typeface="Calibri"/>
              </a:rPr>
              <a:t>It called all three mixed scenarios mixed-positive. ASC-204's misses its primary endpoint and is rescued by a subgroup — that is mixed-negative.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85800"/>
            <a:ext cx="4663440" cy="5486400"/>
          </a:xfrm>
          <a:prstGeom prst="roundRect">
            <a:avLst>
              <a:gd name="adj" fmla="val 2000"/>
            </a:avLst>
          </a:prstGeom>
          <a:solidFill>
            <a:srgbClr val="EDF0F5"/>
          </a:solidFill>
          <a:ln w="12700">
            <a:solidFill>
              <a:srgbClr val="C2CBD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9AA4B2"/>
                </a:solidFill>
                <a:latin typeface="Calibri"/>
              </a:rPr>
              <a:t>VIDEO</a:t>
            </a:r>
          </a:p>
          <a:p>
            <a:pPr algn="ctr">
              <a:spcBef>
                <a:spcPts val="400"/>
              </a:spcBef>
            </a:pPr>
            <a:r>
              <a:rPr sz="900">
                <a:solidFill>
                  <a:srgbClr val="9AA4B2"/>
                </a:solidFill>
                <a:latin typeface="Calibri"/>
              </a:rPr>
              <a:t>place your camera here · delete this shape before recording</a:t>
            </a:r>
          </a:p>
        </p:txBody>
      </p:sp>
      <p:sp>
        <p:nvSpPr>
          <p:cNvPr id="4" name="TextBox 3"/>
          <p:cNvSpPr txBox="1"/>
          <p:nvPr/>
        </p:nvSpPr>
        <p:spPr>
          <a:xfrm>
            <a:off x="5532120" y="685800"/>
            <a:ext cx="6110935" cy="1371600"/>
          </a:xfrm>
          <a:prstGeom prst="rect">
            <a:avLst/>
          </a:prstGeom>
          <a:noFill/>
        </p:spPr>
        <p:txBody>
          <a:bodyPr wrap="square">
            <a:spAutoFit/>
          </a:bodyPr>
          <a:lstStyle/>
          <a:p>
            <a:pPr>
              <a:lnSpc>
                <a:spcPct val="108000"/>
              </a:lnSpc>
              <a:spcBef>
                <a:spcPts val="0"/>
              </a:spcBef>
              <a:spcAft>
                <a:spcPts val="600"/>
              </a:spcAft>
            </a:pPr>
            <a:r>
              <a:rPr sz="1200" b="1" i="0">
                <a:solidFill>
                  <a:srgbClr val="5A6478"/>
                </a:solidFill>
                <a:latin typeface="Calibri"/>
              </a:rPr>
              <a:t>HOW I SATISFIED MYSELF IT IS SOUND</a:t>
            </a:r>
          </a:p>
          <a:p>
            <a:pPr>
              <a:lnSpc>
                <a:spcPct val="100000"/>
              </a:lnSpc>
              <a:spcBef>
                <a:spcPts val="0"/>
              </a:spcBef>
              <a:spcAft>
                <a:spcPts val="0"/>
              </a:spcAft>
            </a:pPr>
            <a:r>
              <a:rPr sz="3000" b="1" i="0">
                <a:solidFill>
                  <a:srgbClr val="1F4E79"/>
                </a:solidFill>
                <a:latin typeface="Calibri"/>
              </a:rPr>
              <a:t>What I examined,
and what it changed</a:t>
            </a:r>
          </a:p>
        </p:txBody>
      </p:sp>
      <p:sp>
        <p:nvSpPr>
          <p:cNvPr id="5" name="Rectangle 4"/>
          <p:cNvSpPr/>
          <p:nvPr/>
        </p:nvSpPr>
        <p:spPr>
          <a:xfrm>
            <a:off x="5532120" y="1847088"/>
            <a:ext cx="1371600" cy="381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32120" y="2121408"/>
            <a:ext cx="6110935" cy="4114800"/>
          </a:xfrm>
          <a:prstGeom prst="rect">
            <a:avLst/>
          </a:prstGeom>
          <a:noFill/>
        </p:spPr>
        <p:txBody>
          <a:bodyPr wrap="square">
            <a:spAutoFit/>
          </a:bodyPr>
          <a:lstStyle/>
          <a:p>
            <a:pPr>
              <a:lnSpc>
                <a:spcPct val="108000"/>
              </a:lnSpc>
              <a:spcBef>
                <a:spcPts val="0"/>
              </a:spcBef>
              <a:spcAft>
                <a:spcPts val="300"/>
              </a:spcAft>
            </a:pPr>
            <a:r>
              <a:rPr sz="1800" b="1" i="0">
                <a:solidFill>
                  <a:srgbClr val="141B2D"/>
                </a:solidFill>
                <a:latin typeface="Calibri"/>
              </a:rPr>
              <a:t>Leakage audit before anything was fitted.</a:t>
            </a:r>
          </a:p>
          <a:p>
            <a:pPr>
              <a:lnSpc>
                <a:spcPct val="112000"/>
              </a:lnSpc>
              <a:spcBef>
                <a:spcPts val="0"/>
              </a:spcBef>
              <a:spcAft>
                <a:spcPts val="0"/>
              </a:spcAft>
            </a:pPr>
            <a:r>
              <a:rPr sz="1400" b="0" i="0">
                <a:solidFill>
                  <a:srgbClr val="5A6478"/>
                </a:solidFill>
                <a:latin typeface="Calibri"/>
              </a:rPr>
              <a:t>R² 0.20 → 0.96 with the nine excluded columns put back.</a:t>
            </a:r>
          </a:p>
          <a:p>
            <a:pPr>
              <a:lnSpc>
                <a:spcPct val="108000"/>
              </a:lnSpc>
              <a:spcBef>
                <a:spcPts val="1200"/>
              </a:spcBef>
              <a:spcAft>
                <a:spcPts val="300"/>
              </a:spcAft>
            </a:pPr>
            <a:r>
              <a:rPr sz="1800" b="1" i="0">
                <a:solidFill>
                  <a:srgbClr val="141B2D"/>
                </a:solidFill>
                <a:latin typeface="Calibri"/>
              </a:rPr>
              <a:t>My own quality index was leaking.</a:t>
            </a:r>
          </a:p>
          <a:p>
            <a:pPr>
              <a:lnSpc>
                <a:spcPct val="112000"/>
              </a:lnSpc>
              <a:spcBef>
                <a:spcPts val="0"/>
              </a:spcBef>
              <a:spcAft>
                <a:spcPts val="0"/>
              </a:spcAft>
            </a:pPr>
            <a:r>
              <a:rPr sz="1400" b="0" i="0">
                <a:solidFill>
                  <a:srgbClr val="5A6478"/>
                </a:solidFill>
                <a:latin typeface="Calibri"/>
              </a:rPr>
              <a:t>+0.14 R², traced to one signal built from the realised return — the leakage that survives review, because the name gives nothing away.</a:t>
            </a:r>
          </a:p>
          <a:p>
            <a:pPr>
              <a:lnSpc>
                <a:spcPct val="108000"/>
              </a:lnSpc>
              <a:spcBef>
                <a:spcPts val="1200"/>
              </a:spcBef>
              <a:spcAft>
                <a:spcPts val="300"/>
              </a:spcAft>
            </a:pPr>
            <a:r>
              <a:rPr sz="1800" b="1" i="0">
                <a:solidFill>
                  <a:srgbClr val="141B2D"/>
                </a:solidFill>
                <a:latin typeface="Calibri"/>
              </a:rPr>
              <a:t>Validated against honest nulls.</a:t>
            </a:r>
          </a:p>
          <a:p>
            <a:pPr>
              <a:lnSpc>
                <a:spcPct val="112000"/>
              </a:lnSpc>
              <a:spcBef>
                <a:spcPts val="0"/>
              </a:spcBef>
              <a:spcAft>
                <a:spcPts val="0"/>
              </a:spcAft>
            </a:pPr>
            <a:r>
              <a:rPr sz="1400" b="0" i="0">
                <a:solidFill>
                  <a:srgbClr val="5A6478"/>
                </a:solidFill>
                <a:latin typeface="Calibri"/>
              </a:rPr>
              <a:t>Permuted features · bootstrap by filing, not by row · forward chaining takes R² from 0.20 to 0.17 — what the pipeline can deliver.</a:t>
            </a:r>
          </a:p>
          <a:p>
            <a:pPr>
              <a:lnSpc>
                <a:spcPct val="108000"/>
              </a:lnSpc>
              <a:spcBef>
                <a:spcPts val="1200"/>
              </a:spcBef>
              <a:spcAft>
                <a:spcPts val="300"/>
              </a:spcAft>
            </a:pPr>
            <a:r>
              <a:rPr sz="1800" b="1" i="0">
                <a:solidFill>
                  <a:srgbClr val="141B2D"/>
                </a:solidFill>
                <a:latin typeface="Calibri"/>
              </a:rPr>
              <a:t>I corrected my own earlier claim.</a:t>
            </a:r>
          </a:p>
          <a:p>
            <a:pPr>
              <a:lnSpc>
                <a:spcPct val="112000"/>
              </a:lnSpc>
              <a:spcBef>
                <a:spcPts val="0"/>
              </a:spcBef>
              <a:spcAft>
                <a:spcPts val="0"/>
              </a:spcAft>
            </a:pPr>
            <a:r>
              <a:rPr sz="1400" b="0" i="0">
                <a:solidFill>
                  <a:srgbClr val="5A6478"/>
                </a:solidFill>
                <a:latin typeface="Calibri"/>
              </a:rPr>
              <a:t>I had told the team the range width was mainly the unknown result. It is about a quarter.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685800"/>
            <a:ext cx="4663440" cy="5486400"/>
          </a:xfrm>
          <a:prstGeom prst="roundRect">
            <a:avLst>
              <a:gd name="adj" fmla="val 2000"/>
            </a:avLst>
          </a:prstGeom>
          <a:solidFill>
            <a:srgbClr val="EDF0F5"/>
          </a:solidFill>
          <a:ln w="12700">
            <a:solidFill>
              <a:srgbClr val="C2CBD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9AA4B2"/>
                </a:solidFill>
                <a:latin typeface="Calibri"/>
              </a:rPr>
              <a:t>VIDEO</a:t>
            </a:r>
          </a:p>
          <a:p>
            <a:pPr algn="ctr">
              <a:spcBef>
                <a:spcPts val="400"/>
              </a:spcBef>
            </a:pPr>
            <a:r>
              <a:rPr sz="900">
                <a:solidFill>
                  <a:srgbClr val="9AA4B2"/>
                </a:solidFill>
                <a:latin typeface="Calibri"/>
              </a:rPr>
              <a:t>place your camera here · delete this shape before recording</a:t>
            </a:r>
          </a:p>
        </p:txBody>
      </p:sp>
      <p:sp>
        <p:nvSpPr>
          <p:cNvPr id="4" name="TextBox 3"/>
          <p:cNvSpPr txBox="1"/>
          <p:nvPr/>
        </p:nvSpPr>
        <p:spPr>
          <a:xfrm>
            <a:off x="5532120" y="685800"/>
            <a:ext cx="6110935" cy="1371600"/>
          </a:xfrm>
          <a:prstGeom prst="rect">
            <a:avLst/>
          </a:prstGeom>
          <a:noFill/>
        </p:spPr>
        <p:txBody>
          <a:bodyPr wrap="square">
            <a:spAutoFit/>
          </a:bodyPr>
          <a:lstStyle/>
          <a:p>
            <a:pPr>
              <a:lnSpc>
                <a:spcPct val="108000"/>
              </a:lnSpc>
              <a:spcBef>
                <a:spcPts val="0"/>
              </a:spcBef>
              <a:spcAft>
                <a:spcPts val="600"/>
              </a:spcAft>
            </a:pPr>
            <a:r>
              <a:rPr sz="1200" b="1" i="0">
                <a:solidFill>
                  <a:srgbClr val="5A6478"/>
                </a:solidFill>
                <a:latin typeface="Calibri"/>
              </a:rPr>
              <a:t>MY RESPONSIBILITY UNDER PG1</a:t>
            </a:r>
          </a:p>
          <a:p>
            <a:pPr>
              <a:lnSpc>
                <a:spcPct val="100000"/>
              </a:lnSpc>
              <a:spcBef>
                <a:spcPts val="0"/>
              </a:spcBef>
              <a:spcAft>
                <a:spcPts val="0"/>
              </a:spcAft>
            </a:pPr>
            <a:r>
              <a:rPr sz="3000" b="1" i="0">
                <a:solidFill>
                  <a:srgbClr val="1F4E79"/>
                </a:solidFill>
                <a:latin typeface="Calibri"/>
              </a:rPr>
              <a:t>Mine regardless of
what drafted it first</a:t>
            </a:r>
          </a:p>
        </p:txBody>
      </p:sp>
      <p:sp>
        <p:nvSpPr>
          <p:cNvPr id="5" name="Rectangle 4"/>
          <p:cNvSpPr/>
          <p:nvPr/>
        </p:nvSpPr>
        <p:spPr>
          <a:xfrm>
            <a:off x="5532120" y="2121408"/>
            <a:ext cx="1371600" cy="381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32120" y="2395728"/>
            <a:ext cx="6110935" cy="3657600"/>
          </a:xfrm>
          <a:prstGeom prst="rect">
            <a:avLst/>
          </a:prstGeom>
          <a:noFill/>
        </p:spPr>
        <p:txBody>
          <a:bodyPr wrap="square">
            <a:spAutoFit/>
          </a:bodyPr>
          <a:lstStyle/>
          <a:p>
            <a:pPr>
              <a:lnSpc>
                <a:spcPct val="115000"/>
              </a:lnSpc>
              <a:spcBef>
                <a:spcPts val="0"/>
              </a:spcBef>
              <a:spcAft>
                <a:spcPts val="2200"/>
              </a:spcAft>
            </a:pPr>
            <a:r>
              <a:rPr sz="1800" b="0" i="0">
                <a:solidFill>
                  <a:srgbClr val="141B2D"/>
                </a:solidFill>
                <a:latin typeface="Calibri"/>
              </a:rPr>
              <a:t>Understand the model before relying on it. Judge whether its assumptions and methodology suit the purpose at hand.</a:t>
            </a:r>
          </a:p>
          <a:p>
            <a:pPr>
              <a:lnSpc>
                <a:spcPct val="108000"/>
              </a:lnSpc>
              <a:spcBef>
                <a:spcPts val="0"/>
              </a:spcBef>
              <a:spcAft>
                <a:spcPts val="800"/>
              </a:spcAft>
            </a:pPr>
            <a:r>
              <a:rPr sz="1200" b="1" i="0">
                <a:solidFill>
                  <a:srgbClr val="5A6478"/>
                </a:solidFill>
                <a:latin typeface="Calibri"/>
              </a:rPr>
              <a:t>IF YOUR TIME IS LIMITED, REVIEW</a:t>
            </a:r>
          </a:p>
          <a:p>
            <a:pPr>
              <a:lnSpc>
                <a:spcPct val="115000"/>
              </a:lnSpc>
              <a:spcBef>
                <a:spcPts val="0"/>
              </a:spcBef>
              <a:spcAft>
                <a:spcPts val="800"/>
              </a:spcAft>
            </a:pPr>
            <a:r>
              <a:rPr sz="1700" b="0" i="0">
                <a:solidFill>
                  <a:srgbClr val="141B2D"/>
                </a:solidFill>
                <a:latin typeface="Calibri"/>
              </a:rPr>
              <a:t>1.  My decision to exclude the announcement drafts from the estimates.</a:t>
            </a:r>
          </a:p>
          <a:p>
            <a:pPr>
              <a:lnSpc>
                <a:spcPct val="115000"/>
              </a:lnSpc>
              <a:spcBef>
                <a:spcPts val="0"/>
              </a:spcBef>
              <a:spcAft>
                <a:spcPts val="0"/>
              </a:spcAft>
            </a:pPr>
            <a:r>
              <a:rPr sz="1700" b="0" i="0">
                <a:solidFill>
                  <a:srgbClr val="141B2D"/>
                </a:solidFill>
                <a:latin typeface="Calibri"/>
              </a:rPr>
              <a:t>2.  Whether the ASC-101 estimate should go in front of the board at all.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