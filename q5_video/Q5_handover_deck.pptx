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9" r:id="rId4"/>
    <p:sldId id="260" r:id="rId5"/>
    <p:sldId id="261" r:id="rId6"/>
    <p:sldId id="262"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698" autoAdjust="0"/>
  </p:normalViewPr>
  <p:slideViewPr>
    <p:cSldViewPr snapToGrid="0" snapToObjects="1">
      <p:cViewPr varScale="1">
        <p:scale>
          <a:sx n="72" d="100"/>
          <a:sy n="72" d="100"/>
        </p:scale>
        <p:origin x="828" y="4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8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[0:00 — ~19s]</a:t>
            </a:r>
          </a:p>
          <a:p>
            <a:endParaRPr dirty="0"/>
          </a:p>
          <a:p>
            <a:r>
              <a:rPr lang="en-AU" sz="1200" b="0" kern="1200" dirty="0">
                <a:solidFill>
                  <a:schemeClr val="tx1"/>
                </a:solidFill>
                <a:effectLst/>
                <a:latin typeface="+mn-lt"/>
                <a:ea typeface="+mn-ea"/>
                <a:cs typeface="+mn-cs"/>
              </a:rPr>
              <a:t>Hello. I'm handing over the analysis behind the IR team's estimates of how the market will react to our three upcoming readouts. A quick summary is it's fit to inform those estimates, but not to produce a headline number, and it's far stronger on the downside than the upside.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[0:19 — ~43s]</a:t>
            </a:r>
          </a:p>
          <a:p>
            <a:endParaRPr dirty="0"/>
          </a:p>
          <a:p>
            <a:r>
              <a:rPr lang="en-AU" sz="1200" b="0" kern="1200" dirty="0">
                <a:solidFill>
                  <a:schemeClr val="tx1"/>
                </a:solidFill>
                <a:effectLst/>
                <a:latin typeface="+mn-lt"/>
                <a:ea typeface="+mn-ea"/>
                <a:cs typeface="+mn-cs"/>
              </a:rPr>
              <a:t>There are four stages for you to review, and I will go through each of the steps that I have done. Then we can move onto the findings, limitations and validations that I performed on my own work.</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I validated the LLM's outcome labels which I took a stratified thirty filings read by hand against the original 8-Ks, then all directional labels checked against the price move that followed. That gave a screen scoring all the classifications, which flags forty per cent, mostly for timing rather than a wrong label.</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I grouped the historical readouts into eight families, on disease, design, stage and sponsor, to find comparables. This was a clustering exercise and to check for our firms handouts. </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I modelled the three-day abnormal return from trial, text and company features. It explains twenty per cent of the variation. The models that were used are random forest, GBM and ridge regression.</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Then I applied that to our three readouts, three scenarios each, with a monitoring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[1:02 — ~45s]</a:t>
            </a:r>
          </a:p>
          <a:p>
            <a:endParaRPr dirty="0"/>
          </a:p>
          <a:p>
            <a:r>
              <a:rPr lang="en-AU" sz="1200" b="0" kern="1200" dirty="0">
                <a:solidFill>
                  <a:schemeClr val="tx1"/>
                </a:solidFill>
                <a:effectLst/>
                <a:latin typeface="+mn-lt"/>
                <a:ea typeface="+mn-ea"/>
                <a:cs typeface="+mn-cs"/>
              </a:rPr>
              <a:t>So, three things I have come to conclusion from the analysis.</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The ordering is sensible. For all three assets a negative readout is materially worse than a positive one, by eleven to twenty-seven points of central estimate, and that survives every seed.</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The downside for ASC-204 can be relied on. It sits in a cluster of 266 cardiovascular and renal outcome trials, 246 in the same therapeutic area, with 34 negative readouts behind it. That's the estimate I'd let the funding decision rest on.</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And severity ranking can also be relied on. 61 per cent of the announcements in the model's worst decile fell more than ten per cent. It sorts readouts into "could be severe" and "probably won't be", not into a number.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[1:47 — ~52s]</a:t>
            </a:r>
          </a:p>
          <a:p>
            <a:endParaRPr dirty="0"/>
          </a:p>
          <a:p>
            <a:r>
              <a:rPr lang="en-AU" sz="1200" b="0" kern="1200" dirty="0">
                <a:solidFill>
                  <a:schemeClr val="tx1"/>
                </a:solidFill>
                <a:effectLst/>
                <a:latin typeface="+mn-lt"/>
                <a:ea typeface="+mn-ea"/>
                <a:cs typeface="+mn-cs"/>
              </a:rPr>
              <a:t>Now the limitations. </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ASC-101 has effectively no comparables. The dataset holds seven hereditary angioedema readouts in total, so my method matched it to vaccine trials on design, having nothing to match on disease. That number is a Phase 3 base rate wearing a comparable set's clothes.</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The upside is close to unmodelled as there is only three per cent of the spread within positive readouts, and effectively nothing with the features Asclepius can supply. For an upside case, quote the historical range.</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And the dataset supplies no price series for Asclepius which is a gap in the data, but normally is required for analysis. Volatility is most of what let the model size a bad outcome, so the bands are about 69 points wide, and correctly so.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[2:39 — ~47s]</a:t>
            </a:r>
          </a:p>
          <a:p>
            <a:endParaRPr dirty="0"/>
          </a:p>
          <a:p>
            <a:r>
              <a:rPr lang="en-AU" sz="1200" b="0" kern="1200" dirty="0">
                <a:solidFill>
                  <a:schemeClr val="tx1"/>
                </a:solidFill>
                <a:effectLst/>
                <a:latin typeface="+mn-lt"/>
                <a:ea typeface="+mn-ea"/>
                <a:cs typeface="+mn-cs"/>
              </a:rPr>
              <a:t>I used Claude, through Claude Code, heavily and throughout — to write and debug the code, to surface</a:t>
            </a:r>
          </a:p>
          <a:p>
            <a:r>
              <a:rPr lang="en-AU" sz="1200" b="0" kern="1200" dirty="0">
                <a:solidFill>
                  <a:schemeClr val="tx1"/>
                </a:solidFill>
                <a:effectLst/>
                <a:latin typeface="+mn-lt"/>
                <a:ea typeface="+mn-ea"/>
                <a:cs typeface="+mn-cs"/>
              </a:rPr>
              <a:t>result sentences from the filings for me to read, and to draft commentary I rewrote. The full</a:t>
            </a:r>
          </a:p>
          <a:p>
            <a:r>
              <a:rPr lang="en-AU" sz="1200" b="0" kern="1200" dirty="0">
                <a:solidFill>
                  <a:schemeClr val="tx1"/>
                </a:solidFill>
                <a:effectLst/>
                <a:latin typeface="+mn-lt"/>
                <a:ea typeface="+mn-ea"/>
                <a:cs typeface="+mn-cs"/>
              </a:rPr>
              <a:t>conversations are in the submitted log.</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What I didn't delegate was the judgement. I set the constraints: no feature unobservable before the</a:t>
            </a:r>
          </a:p>
          <a:p>
            <a:r>
              <a:rPr lang="en-AU" sz="1200" b="0" kern="1200" dirty="0">
                <a:solidFill>
                  <a:schemeClr val="tx1"/>
                </a:solidFill>
                <a:effectLst/>
                <a:latin typeface="+mn-lt"/>
                <a:ea typeface="+mn-ea"/>
                <a:cs typeface="+mn-cs"/>
              </a:rPr>
              <a:t>event, and the announcement drafts excluded entirely, because they were written to express the</a:t>
            </a:r>
          </a:p>
          <a:p>
            <a:r>
              <a:rPr lang="en-AU" sz="1200" b="0" kern="1200" dirty="0">
                <a:solidFill>
                  <a:schemeClr val="tx1"/>
                </a:solidFill>
                <a:effectLst/>
                <a:latin typeface="+mn-lt"/>
                <a:ea typeface="+mn-ea"/>
                <a:cs typeface="+mn-cs"/>
              </a:rPr>
              <a:t>assumed outcome. The thirty filings are my reading, not its summary. I made some calls on whether it </a:t>
            </a:r>
          </a:p>
          <a:p>
            <a:r>
              <a:rPr lang="en-AU" sz="1200" b="0" kern="1200" dirty="0">
                <a:solidFill>
                  <a:schemeClr val="tx1"/>
                </a:solidFill>
                <a:effectLst/>
                <a:latin typeface="+mn-lt"/>
                <a:ea typeface="+mn-ea"/>
                <a:cs typeface="+mn-cs"/>
              </a:rPr>
              <a:t>should be mixed positive or negative. Also there were models and parameters which I decided to run </a:t>
            </a:r>
          </a:p>
          <a:p>
            <a:r>
              <a:rPr lang="en-AU" sz="1200" b="0" kern="1200" dirty="0">
                <a:solidFill>
                  <a:schemeClr val="tx1"/>
                </a:solidFill>
                <a:effectLst/>
                <a:latin typeface="+mn-lt"/>
                <a:ea typeface="+mn-ea"/>
                <a:cs typeface="+mn-cs"/>
              </a:rPr>
              <a:t>extra analysis on check if it was tuned properly.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[3:26 — ~45s]</a:t>
            </a:r>
          </a:p>
          <a:p>
            <a:endParaRPr dirty="0"/>
          </a:p>
          <a:p>
            <a:r>
              <a:rPr lang="en-AU" sz="1200" b="0" kern="1200" dirty="0">
                <a:solidFill>
                  <a:schemeClr val="tx1"/>
                </a:solidFill>
                <a:effectLst/>
                <a:latin typeface="+mn-lt"/>
                <a:ea typeface="+mn-ea"/>
                <a:cs typeface="+mn-cs"/>
              </a:rPr>
              <a:t>On checking. I ran a leakage audit before fitting anything: with the nine excluded columns put back, R-squared goes from 0.20 to 0.96. Also tested various hyper parameters rather than just taking AI outputs.</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i="1" kern="1200" dirty="0">
                <a:solidFill>
                  <a:schemeClr val="tx1"/>
                </a:solidFill>
                <a:effectLst/>
                <a:latin typeface="+mn-lt"/>
                <a:ea typeface="+mn-ea"/>
                <a:cs typeface="+mn-cs"/>
              </a:rPr>
              <a:t>*[cut if long]*</a:t>
            </a:r>
            <a:r>
              <a:rPr lang="en-AU" sz="1200" b="0" kern="1200" dirty="0">
                <a:solidFill>
                  <a:schemeClr val="tx1"/>
                </a:solidFill>
                <a:effectLst/>
                <a:latin typeface="+mn-lt"/>
                <a:ea typeface="+mn-ea"/>
                <a:cs typeface="+mn-cs"/>
              </a:rPr>
              <a:t> I validated against honest nulls — permuted features, bootstrap by filing rather than by row, and forward chaining, which drops R-squared to 0.17. That's what the pipeline can deliver.</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I validated each cell manually and read the code to ensure what was generated by </a:t>
            </a:r>
            <a:r>
              <a:rPr lang="en-AU" sz="1200" b="0" kern="1200" dirty="0" err="1">
                <a:solidFill>
                  <a:schemeClr val="tx1"/>
                </a:solidFill>
                <a:effectLst/>
                <a:latin typeface="+mn-lt"/>
                <a:ea typeface="+mn-ea"/>
                <a:cs typeface="+mn-cs"/>
              </a:rPr>
              <a:t>claude</a:t>
            </a:r>
            <a:r>
              <a:rPr lang="en-AU" sz="1200" b="0" kern="1200" dirty="0">
                <a:solidFill>
                  <a:schemeClr val="tx1"/>
                </a:solidFill>
                <a:effectLst/>
                <a:latin typeface="+mn-lt"/>
                <a:ea typeface="+mn-ea"/>
                <a:cs typeface="+mn-cs"/>
              </a:rPr>
              <a:t> made sense, the commentary had also been reviewed and validated before this handover with you.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[4:11 — ~29s]</a:t>
            </a:r>
          </a:p>
          <a:p>
            <a:endParaRPr dirty="0"/>
          </a:p>
          <a:p>
            <a:r>
              <a:rPr lang="en-AU" sz="1200" b="0" kern="1200" dirty="0">
                <a:solidFill>
                  <a:schemeClr val="tx1"/>
                </a:solidFill>
                <a:effectLst/>
                <a:latin typeface="+mn-lt"/>
                <a:ea typeface="+mn-ea"/>
                <a:cs typeface="+mn-cs"/>
              </a:rPr>
              <a:t>Under PG1 I'm responsible for the judgements here regardless of what produced the first draft of them which means understanding the model before relying on it, and judging whether its assumptions suit the purpose. However, for your review purpose the code is stored in GitHub with commentary and methodology documents.</a:t>
            </a:r>
          </a:p>
          <a:p>
            <a:br>
              <a:rPr lang="en-AU" sz="1200" b="0" kern="1200" dirty="0">
                <a:solidFill>
                  <a:schemeClr val="tx1"/>
                </a:solidFill>
                <a:effectLst/>
                <a:latin typeface="+mn-lt"/>
                <a:ea typeface="+mn-ea"/>
                <a:cs typeface="+mn-cs"/>
              </a:rPr>
            </a:br>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If your time is limited, I'd put it on two things: my decision to exclude the announcement drafts, and whether the ASC-101 estimate should go in front of the board at all, as those are two key results that can change  if you think the method is meant to be different. Otherwise feel free to call me for any questions when you're reviewing.</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1842620"/>
          </a:xfrm>
          <a:prstGeom prst="rect">
            <a:avLst/>
          </a:prstGeom>
          <a:noFill/>
        </p:spPr>
        <p:txBody>
          <a:bodyPr wrap="square">
            <a:spAutoFit/>
          </a:bodyPr>
          <a:lstStyle/>
          <a:p>
            <a:pPr>
              <a:lnSpc>
                <a:spcPct val="100000"/>
              </a:lnSpc>
              <a:spcBef>
                <a:spcPts val="0"/>
              </a:spcBef>
              <a:spcAft>
                <a:spcPts val="1400"/>
              </a:spcAft>
            </a:pPr>
            <a:r>
              <a:rPr sz="3600" b="1" i="0" dirty="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a:t>
            </a:r>
            <a:r>
              <a:rPr lang="en-US" sz="1700">
                <a:solidFill>
                  <a:srgbClr val="141B2D"/>
                </a:solidFill>
                <a:latin typeface="Calibri"/>
              </a:rPr>
              <a:t>m</a:t>
            </a:r>
            <a:r>
              <a:rPr sz="1700" b="0" i="0">
                <a:solidFill>
                  <a:srgbClr val="141B2D"/>
                </a:solidFill>
                <a:latin typeface="Calibri"/>
              </a:rPr>
              <a:t>arket </a:t>
            </a:r>
            <a:r>
              <a:rPr sz="1700" b="0" i="0" dirty="0">
                <a:solidFill>
                  <a:srgbClr val="141B2D"/>
                </a:solidFill>
                <a:latin typeface="Calibri"/>
              </a:rPr>
              <a:t>reactions to the ASC-101, ASC-204 and ASC-370</a:t>
            </a:r>
          </a:p>
        </p:txBody>
      </p:sp>
      <p:pic>
        <p:nvPicPr>
          <p:cNvPr id="5" name="Camera 4">
            <a:extLst>
              <a:ext uri="{FF2B5EF4-FFF2-40B4-BE49-F238E27FC236}">
                <a16:creationId xmlns:a16="http://schemas.microsoft.com/office/drawing/2014/main" id="{0E08658B-14E6-AEF9-126E-45487F34F632}"/>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I BUILT</a:t>
            </a:r>
          </a:p>
          <a:p>
            <a:pPr>
              <a:lnSpc>
                <a:spcPct val="100000"/>
              </a:lnSpc>
              <a:spcBef>
                <a:spcPts val="0"/>
              </a:spcBef>
              <a:spcAft>
                <a:spcPts val="0"/>
              </a:spcAft>
            </a:pPr>
            <a:r>
              <a:rPr sz="3000" b="1" i="0">
                <a:solidFill>
                  <a:srgbClr val="1F4E79"/>
                </a:solidFill>
                <a:latin typeface="Calibri"/>
              </a:rPr>
              <a:t>Four stages</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822008"/>
          </a:xfrm>
          <a:prstGeom prst="rect">
            <a:avLst/>
          </a:prstGeom>
          <a:noFill/>
        </p:spPr>
        <p:txBody>
          <a:bodyPr wrap="square">
            <a:spAutoFit/>
          </a:bodyPr>
          <a:lstStyle/>
          <a:p>
            <a:pPr>
              <a:lnSpc>
                <a:spcPct val="108000"/>
              </a:lnSpc>
              <a:spcBef>
                <a:spcPts val="0"/>
              </a:spcBef>
              <a:spcAft>
                <a:spcPts val="300"/>
              </a:spcAft>
            </a:pPr>
            <a:r>
              <a:rPr sz="1800" b="1" i="0" dirty="0">
                <a:solidFill>
                  <a:srgbClr val="141B2D"/>
                </a:solidFill>
                <a:latin typeface="Calibri"/>
              </a:rPr>
              <a:t>Validated the outcome labels.</a:t>
            </a:r>
          </a:p>
          <a:p>
            <a:pPr>
              <a:lnSpc>
                <a:spcPct val="112000"/>
              </a:lnSpc>
              <a:spcBef>
                <a:spcPts val="0"/>
              </a:spcBef>
              <a:spcAft>
                <a:spcPts val="0"/>
              </a:spcAft>
            </a:pPr>
            <a:r>
              <a:rPr sz="1400" b="0" i="0" dirty="0">
                <a:solidFill>
                  <a:srgbClr val="5A6478"/>
                </a:solidFill>
                <a:latin typeface="Calibri"/>
              </a:rPr>
              <a:t>30 filings read by hand</a:t>
            </a:r>
            <a:r>
              <a:rPr lang="en-US" sz="1400" b="0" i="0" dirty="0">
                <a:solidFill>
                  <a:srgbClr val="5A6478"/>
                </a:solidFill>
                <a:latin typeface="Calibri"/>
              </a:rPr>
              <a:t>. </a:t>
            </a: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ll 2,392 directional labels checked against the </a:t>
            </a:r>
            <a:r>
              <a:rPr sz="1400" b="0" i="0" dirty="0" err="1">
                <a:solidFill>
                  <a:srgbClr val="5A6478"/>
                </a:solidFill>
                <a:latin typeface="Calibri"/>
              </a:rPr>
              <a:t>realised</a:t>
            </a:r>
            <a:r>
              <a:rPr sz="1400" b="0" i="0" dirty="0">
                <a:solidFill>
                  <a:srgbClr val="5A6478"/>
                </a:solidFill>
                <a:latin typeface="Calibri"/>
              </a:rPr>
              <a:t> move</a:t>
            </a:r>
            <a:r>
              <a:rPr lang="en-US" sz="1400" b="0" i="0" dirty="0">
                <a:solidFill>
                  <a:srgbClr val="5A6478"/>
                </a:solidFill>
                <a:latin typeface="Calibri"/>
              </a:rPr>
              <a:t>.</a:t>
            </a:r>
            <a:r>
              <a:rPr sz="1400" b="0" i="0" dirty="0">
                <a:solidFill>
                  <a:srgbClr val="5A6478"/>
                </a:solidFill>
                <a:latin typeface="Calibri"/>
              </a:rPr>
              <a:t> </a:t>
            </a:r>
            <a:endParaRPr lang="en-US" sz="1400" b="0" i="0" dirty="0">
              <a:solidFill>
                <a:srgbClr val="5A6478"/>
              </a:solidFill>
              <a:latin typeface="Calibri"/>
            </a:endParaRP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 screen</a:t>
            </a:r>
            <a:r>
              <a:rPr lang="en-US" sz="1400" b="0" i="0" dirty="0">
                <a:solidFill>
                  <a:srgbClr val="5A6478"/>
                </a:solidFill>
                <a:latin typeface="Calibri"/>
              </a:rPr>
              <a:t>ing</a:t>
            </a:r>
            <a:r>
              <a:rPr sz="1400" b="0" i="0" dirty="0">
                <a:solidFill>
                  <a:srgbClr val="5A6478"/>
                </a:solidFill>
                <a:latin typeface="Calibri"/>
              </a:rPr>
              <a:t> over all 4,539 classifications flags 40%, mostly timing rather than wrong labels.</a:t>
            </a:r>
          </a:p>
          <a:p>
            <a:pPr>
              <a:lnSpc>
                <a:spcPct val="108000"/>
              </a:lnSpc>
              <a:spcBef>
                <a:spcPts val="1200"/>
              </a:spcBef>
              <a:spcAft>
                <a:spcPts val="300"/>
              </a:spcAft>
            </a:pPr>
            <a:r>
              <a:rPr sz="1800" b="1" i="0" dirty="0">
                <a:solidFill>
                  <a:srgbClr val="141B2D"/>
                </a:solidFill>
                <a:latin typeface="Calibri"/>
              </a:rPr>
              <a:t>Grouped 1,975 readouts into eight families</a:t>
            </a:r>
            <a:r>
              <a:rPr lang="en-US" sz="1800" b="1" i="0" dirty="0">
                <a:solidFill>
                  <a:srgbClr val="141B2D"/>
                </a:solidFill>
                <a:latin typeface="Calibri"/>
              </a:rPr>
              <a:t> (clustering)</a:t>
            </a:r>
            <a:r>
              <a:rPr sz="1800" b="1" i="0" dirty="0">
                <a:solidFill>
                  <a:srgbClr val="141B2D"/>
                </a:solidFill>
                <a:latin typeface="Calibri"/>
              </a:rPr>
              <a:t>.</a:t>
            </a:r>
          </a:p>
          <a:p>
            <a:pPr>
              <a:lnSpc>
                <a:spcPct val="112000"/>
              </a:lnSpc>
              <a:spcBef>
                <a:spcPts val="0"/>
              </a:spcBef>
              <a:spcAft>
                <a:spcPts val="0"/>
              </a:spcAft>
            </a:pPr>
            <a:r>
              <a:rPr sz="1400" b="0" i="0" dirty="0">
                <a:solidFill>
                  <a:srgbClr val="5A6478"/>
                </a:solidFill>
                <a:latin typeface="Calibri"/>
              </a:rPr>
              <a:t>Disease, design, stage and sponsor to find comparables for each readout.</a:t>
            </a:r>
          </a:p>
          <a:p>
            <a:pPr>
              <a:lnSpc>
                <a:spcPct val="108000"/>
              </a:lnSpc>
              <a:spcBef>
                <a:spcPts val="1200"/>
              </a:spcBef>
              <a:spcAft>
                <a:spcPts val="300"/>
              </a:spcAft>
            </a:pPr>
            <a:r>
              <a:rPr sz="1800" b="1" i="0" dirty="0">
                <a:solidFill>
                  <a:srgbClr val="141B2D"/>
                </a:solidFill>
                <a:latin typeface="Calibri"/>
              </a:rPr>
              <a:t>Modelled the three-day abnormal return.</a:t>
            </a:r>
          </a:p>
          <a:p>
            <a:pPr>
              <a:lnSpc>
                <a:spcPct val="112000"/>
              </a:lnSpc>
              <a:spcBef>
                <a:spcPts val="0"/>
              </a:spcBef>
              <a:spcAft>
                <a:spcPts val="0"/>
              </a:spcAft>
            </a:pPr>
            <a:r>
              <a:rPr sz="1400" b="0" i="0" dirty="0">
                <a:solidFill>
                  <a:srgbClr val="5A6478"/>
                </a:solidFill>
                <a:latin typeface="Calibri"/>
              </a:rPr>
              <a:t>Trial, text and company features, scored on held-out announcements. </a:t>
            </a:r>
            <a:r>
              <a:rPr lang="en-US" sz="1400" b="0" i="0" dirty="0">
                <a:solidFill>
                  <a:srgbClr val="5A6478"/>
                </a:solidFill>
                <a:latin typeface="Calibri"/>
              </a:rPr>
              <a:t>The models were random forest, ridge regression and gradient boosting. </a:t>
            </a:r>
            <a:endParaRPr sz="1400" b="0" i="0" dirty="0">
              <a:solidFill>
                <a:srgbClr val="5A6478"/>
              </a:solidFill>
              <a:latin typeface="Calibri"/>
            </a:endParaRPr>
          </a:p>
          <a:p>
            <a:pPr>
              <a:lnSpc>
                <a:spcPct val="108000"/>
              </a:lnSpc>
              <a:spcBef>
                <a:spcPts val="1200"/>
              </a:spcBef>
              <a:spcAft>
                <a:spcPts val="300"/>
              </a:spcAft>
            </a:pPr>
            <a:r>
              <a:rPr sz="1800" b="1" i="0" dirty="0">
                <a:solidFill>
                  <a:srgbClr val="141B2D"/>
                </a:solidFill>
                <a:latin typeface="Calibri"/>
              </a:rPr>
              <a:t>Applied it to the three readouts.</a:t>
            </a:r>
          </a:p>
          <a:p>
            <a:pPr>
              <a:lnSpc>
                <a:spcPct val="112000"/>
              </a:lnSpc>
              <a:spcBef>
                <a:spcPts val="0"/>
              </a:spcBef>
              <a:spcAft>
                <a:spcPts val="0"/>
              </a:spcAft>
            </a:pPr>
            <a:r>
              <a:rPr sz="1400" b="0" i="0" dirty="0">
                <a:solidFill>
                  <a:srgbClr val="5A6478"/>
                </a:solidFill>
                <a:latin typeface="Calibri"/>
              </a:rPr>
              <a:t>Three scenarios each, plus a validation, monitoring and refresh plan.</a:t>
            </a:r>
          </a:p>
        </p:txBody>
      </p:sp>
      <p:pic>
        <p:nvPicPr>
          <p:cNvPr id="8" name="Camera 7">
            <a:extLst>
              <a:ext uri="{FF2B5EF4-FFF2-40B4-BE49-F238E27FC236}">
                <a16:creationId xmlns:a16="http://schemas.microsoft.com/office/drawing/2014/main" id="{484A5218-FAF2-7A18-CF5E-BAC02FDDF87D}"/>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80A33DB6-4128-1BAF-6269-0BCA548B67E1}"/>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1673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WHAT THE ANALYSIS SUPPORTS</a:t>
            </a:r>
          </a:p>
          <a:p>
            <a:pPr>
              <a:lnSpc>
                <a:spcPct val="100000"/>
              </a:lnSpc>
              <a:spcBef>
                <a:spcPts val="0"/>
              </a:spcBef>
              <a:spcAft>
                <a:spcPts val="0"/>
              </a:spcAft>
            </a:pPr>
            <a:r>
              <a:rPr sz="3000" b="1" i="0" dirty="0">
                <a:solidFill>
                  <a:srgbClr val="1F4E79"/>
                </a:solidFill>
                <a:latin typeface="Calibri"/>
              </a:rPr>
              <a:t>Three </a:t>
            </a:r>
            <a:r>
              <a:rPr lang="en-US" sz="3000" b="1" i="0" dirty="0">
                <a:solidFill>
                  <a:srgbClr val="1F4E79"/>
                </a:solidFill>
                <a:latin typeface="Calibri"/>
              </a:rPr>
              <a:t>Key Insights</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051541"/>
          </a:xfrm>
          <a:prstGeom prst="rect">
            <a:avLst/>
          </a:prstGeom>
          <a:noFill/>
        </p:spPr>
        <p:txBody>
          <a:bodyPr wrap="square">
            <a:spAutoFit/>
          </a:bodyPr>
          <a:lstStyle/>
          <a:p>
            <a:pPr>
              <a:lnSpc>
                <a:spcPct val="108000"/>
              </a:lnSpc>
              <a:spcBef>
                <a:spcPts val="0"/>
              </a:spcBef>
              <a:spcAft>
                <a:spcPts val="300"/>
              </a:spcAft>
            </a:pPr>
            <a:r>
              <a:rPr sz="1900" b="1" i="0" dirty="0">
                <a:solidFill>
                  <a:srgbClr val="141B2D"/>
                </a:solidFill>
                <a:latin typeface="Calibri"/>
              </a:rPr>
              <a:t>The ordering is reliable.</a:t>
            </a:r>
          </a:p>
          <a:p>
            <a:pPr>
              <a:lnSpc>
                <a:spcPct val="112000"/>
              </a:lnSpc>
              <a:spcBef>
                <a:spcPts val="0"/>
              </a:spcBef>
              <a:spcAft>
                <a:spcPts val="0"/>
              </a:spcAft>
            </a:pPr>
            <a:r>
              <a:rPr sz="1500" b="0" i="0" dirty="0">
                <a:solidFill>
                  <a:srgbClr val="5A6478"/>
                </a:solidFill>
                <a:latin typeface="Calibri"/>
              </a:rPr>
              <a:t>Negative vs positive separated by 11–27 points of central estimate, for all three assets, and it survives every seed.</a:t>
            </a:r>
          </a:p>
          <a:p>
            <a:pPr>
              <a:lnSpc>
                <a:spcPct val="108000"/>
              </a:lnSpc>
              <a:spcBef>
                <a:spcPts val="1400"/>
              </a:spcBef>
              <a:spcAft>
                <a:spcPts val="300"/>
              </a:spcAft>
            </a:pPr>
            <a:r>
              <a:rPr sz="1900" b="1" i="0" dirty="0">
                <a:solidFill>
                  <a:srgbClr val="141B2D"/>
                </a:solidFill>
                <a:latin typeface="Calibri"/>
              </a:rPr>
              <a:t>ASC-204's downside is well evidenced.</a:t>
            </a:r>
          </a:p>
          <a:p>
            <a:pPr>
              <a:lnSpc>
                <a:spcPct val="112000"/>
              </a:lnSpc>
              <a:spcBef>
                <a:spcPts val="0"/>
              </a:spcBef>
              <a:spcAft>
                <a:spcPts val="0"/>
              </a:spcAft>
            </a:pPr>
            <a:r>
              <a:rPr sz="1500" b="0" i="0" dirty="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dirty="0">
                <a:solidFill>
                  <a:srgbClr val="141B2D"/>
                </a:solidFill>
                <a:latin typeface="Calibri"/>
              </a:rPr>
              <a:t>It ranks severity.</a:t>
            </a:r>
          </a:p>
          <a:p>
            <a:pPr>
              <a:lnSpc>
                <a:spcPct val="112000"/>
              </a:lnSpc>
              <a:spcBef>
                <a:spcPts val="0"/>
              </a:spcBef>
              <a:spcAft>
                <a:spcPts val="0"/>
              </a:spcAft>
            </a:pPr>
            <a:r>
              <a:rPr sz="1500" b="0" i="0" dirty="0">
                <a:solidFill>
                  <a:srgbClr val="5A6478"/>
                </a:solidFill>
                <a:latin typeface="Calibri"/>
              </a:rPr>
              <a:t>Worst-ranked decile: 61%</a:t>
            </a:r>
            <a:r>
              <a:rPr lang="en-AU" sz="1500" b="0" i="0" dirty="0">
                <a:solidFill>
                  <a:srgbClr val="5A6478"/>
                </a:solidFill>
                <a:latin typeface="Calibri"/>
              </a:rPr>
              <a:t> of readouts</a:t>
            </a:r>
            <a:r>
              <a:rPr sz="1500" b="0" i="0" dirty="0">
                <a:solidFill>
                  <a:srgbClr val="5A6478"/>
                </a:solidFill>
                <a:latin typeface="Calibri"/>
              </a:rPr>
              <a:t> fell more than 10%, 43%</a:t>
            </a:r>
            <a:r>
              <a:rPr lang="en-AU" sz="1500" b="0" i="0" dirty="0">
                <a:solidFill>
                  <a:srgbClr val="5A6478"/>
                </a:solidFill>
                <a:latin typeface="Calibri"/>
              </a:rPr>
              <a:t> of readouts</a:t>
            </a:r>
            <a:r>
              <a:rPr sz="1500" b="0" i="0" dirty="0">
                <a:solidFill>
                  <a:srgbClr val="5A6478"/>
                </a:solidFill>
                <a:latin typeface="Calibri"/>
              </a:rPr>
              <a:t> more than 25%. AUC 0.78 for a fall beyond 25%.</a:t>
            </a:r>
          </a:p>
        </p:txBody>
      </p:sp>
      <p:pic>
        <p:nvPicPr>
          <p:cNvPr id="8" name="Camera 7">
            <a:extLst>
              <a:ext uri="{FF2B5EF4-FFF2-40B4-BE49-F238E27FC236}">
                <a16:creationId xmlns:a16="http://schemas.microsoft.com/office/drawing/2014/main" id="{C0A60643-4FEF-5610-A27A-B358699F5C09}"/>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314B0D04-DA6C-DF96-60F0-85940CC13502}"/>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0609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WHERE IT SHOULD NOT BE RELIED UPON</a:t>
            </a:r>
          </a:p>
          <a:p>
            <a:pPr>
              <a:lnSpc>
                <a:spcPct val="100000"/>
              </a:lnSpc>
              <a:spcBef>
                <a:spcPts val="0"/>
              </a:spcBef>
              <a:spcAft>
                <a:spcPts val="0"/>
              </a:spcAft>
            </a:pPr>
            <a:r>
              <a:rPr sz="3000" b="1" i="0" dirty="0">
                <a:solidFill>
                  <a:srgbClr val="A8322D"/>
                </a:solidFill>
                <a:latin typeface="Calibri"/>
              </a:rPr>
              <a:t>Three </a:t>
            </a:r>
            <a:r>
              <a:rPr lang="en-US" sz="3000" b="1" i="0" dirty="0">
                <a:solidFill>
                  <a:srgbClr val="A8322D"/>
                </a:solidFill>
                <a:latin typeface="Calibri"/>
              </a:rPr>
              <a:t>Key Limitations </a:t>
            </a:r>
            <a:endParaRPr sz="3000" b="1" i="0" dirty="0">
              <a:solidFill>
                <a:srgbClr val="A8322D"/>
              </a:solidFill>
              <a:latin typeface="Calibri"/>
            </a:endParaRP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pic>
        <p:nvPicPr>
          <p:cNvPr id="8" name="Camera 7">
            <a:extLst>
              <a:ext uri="{FF2B5EF4-FFF2-40B4-BE49-F238E27FC236}">
                <a16:creationId xmlns:a16="http://schemas.microsoft.com/office/drawing/2014/main" id="{8C57F0FD-3114-DB8F-DF7F-181AFCF9B0DD}"/>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2FF33013-4749-C76C-F5DA-50B9E3F1BABB}"/>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THE WORK WAS PRODUCED</a:t>
            </a:r>
          </a:p>
          <a:p>
            <a:pPr>
              <a:lnSpc>
                <a:spcPct val="100000"/>
              </a:lnSpc>
              <a:spcBef>
                <a:spcPts val="0"/>
              </a:spcBef>
              <a:spcAft>
                <a:spcPts val="0"/>
              </a:spcAft>
            </a:pPr>
            <a:r>
              <a:rPr sz="3000" b="1" i="0" dirty="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051541"/>
          </a:xfrm>
          <a:prstGeom prst="rect">
            <a:avLst/>
          </a:prstGeom>
          <a:noFill/>
        </p:spPr>
        <p:txBody>
          <a:bodyPr wrap="square">
            <a:spAutoFit/>
          </a:bodyPr>
          <a:lstStyle/>
          <a:p>
            <a:pPr>
              <a:lnSpc>
                <a:spcPct val="108000"/>
              </a:lnSpc>
              <a:spcBef>
                <a:spcPts val="0"/>
              </a:spcBef>
              <a:spcAft>
                <a:spcPts val="300"/>
              </a:spcAft>
            </a:pPr>
            <a:r>
              <a:rPr sz="1900" b="1" i="0" dirty="0">
                <a:solidFill>
                  <a:srgbClr val="141B2D"/>
                </a:solidFill>
                <a:latin typeface="Calibri"/>
              </a:rPr>
              <a:t>Claude, via Claude Code</a:t>
            </a:r>
            <a:r>
              <a:rPr lang="en-US" sz="1900" b="1" dirty="0">
                <a:solidFill>
                  <a:srgbClr val="141B2D"/>
                </a:solidFill>
                <a:latin typeface="Calibri"/>
              </a:rPr>
              <a:t> </a:t>
            </a:r>
            <a:r>
              <a:rPr sz="1900" b="1" i="0" dirty="0">
                <a:solidFill>
                  <a:srgbClr val="141B2D"/>
                </a:solidFill>
                <a:latin typeface="Calibri"/>
              </a:rPr>
              <a:t>throughout</a:t>
            </a:r>
            <a:r>
              <a:rPr lang="en-US" sz="1900" b="1" i="0" dirty="0">
                <a:solidFill>
                  <a:srgbClr val="141B2D"/>
                </a:solidFill>
                <a:latin typeface="Calibri"/>
              </a:rPr>
              <a:t> the whole project</a:t>
            </a:r>
            <a:r>
              <a:rPr sz="1900" b="1" i="0" dirty="0">
                <a:solidFill>
                  <a:srgbClr val="141B2D"/>
                </a:solidFill>
                <a:latin typeface="Calibri"/>
              </a:rPr>
              <a:t>.</a:t>
            </a:r>
          </a:p>
          <a:p>
            <a:pPr>
              <a:lnSpc>
                <a:spcPct val="112000"/>
              </a:lnSpc>
              <a:spcBef>
                <a:spcPts val="0"/>
              </a:spcBef>
              <a:spcAft>
                <a:spcPts val="0"/>
              </a:spcAft>
            </a:pPr>
            <a:r>
              <a:rPr sz="1500" b="0" i="0" dirty="0">
                <a:solidFill>
                  <a:srgbClr val="5A6478"/>
                </a:solidFill>
                <a:latin typeface="Calibri"/>
              </a:rPr>
              <a:t>Code written and debugged, result sentences pulled from the filings for me to read, commentary drafted and then rewritten. Full logs submitted.</a:t>
            </a:r>
            <a:endParaRPr lang="en-US" sz="1500" b="0" i="0" dirty="0">
              <a:solidFill>
                <a:srgbClr val="5A6478"/>
              </a:solidFill>
              <a:latin typeface="Calibri"/>
            </a:endParaRPr>
          </a:p>
          <a:p>
            <a:pPr>
              <a:lnSpc>
                <a:spcPct val="108000"/>
              </a:lnSpc>
              <a:spcBef>
                <a:spcPts val="1400"/>
              </a:spcBef>
              <a:spcAft>
                <a:spcPts val="300"/>
              </a:spcAft>
            </a:pPr>
            <a:r>
              <a:rPr lang="en-US" sz="1900" b="1" i="0" dirty="0">
                <a:solidFill>
                  <a:srgbClr val="141B2D"/>
                </a:solidFill>
                <a:latin typeface="Calibri"/>
              </a:rPr>
              <a:t>The constraints were mine.</a:t>
            </a:r>
          </a:p>
          <a:p>
            <a:pPr>
              <a:lnSpc>
                <a:spcPct val="112000"/>
              </a:lnSpc>
              <a:spcBef>
                <a:spcPts val="0"/>
              </a:spcBef>
              <a:spcAft>
                <a:spcPts val="0"/>
              </a:spcAft>
            </a:pPr>
            <a:r>
              <a:rPr lang="en-US" sz="1500" b="0" i="0" dirty="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lang="en-US" sz="1900" b="1" i="0" dirty="0">
                <a:solidFill>
                  <a:srgbClr val="141B2D"/>
                </a:solidFill>
                <a:latin typeface="Calibri"/>
              </a:rPr>
              <a:t>I made judgment calls. </a:t>
            </a:r>
          </a:p>
          <a:p>
            <a:pPr>
              <a:lnSpc>
                <a:spcPct val="112000"/>
              </a:lnSpc>
              <a:spcBef>
                <a:spcPts val="0"/>
              </a:spcBef>
              <a:spcAft>
                <a:spcPts val="0"/>
              </a:spcAft>
            </a:pPr>
            <a:r>
              <a:rPr lang="en-US" sz="1500" b="0" i="0" dirty="0">
                <a:solidFill>
                  <a:srgbClr val="5A6478"/>
                </a:solidFill>
                <a:latin typeface="Calibri"/>
              </a:rPr>
              <a:t>It called some mixed scenarios mixed-positive. Cases like ASC-204's misses its primary endpoint and is rescued by a subgroup </a:t>
            </a:r>
            <a:r>
              <a:rPr lang="en-US" sz="1500" dirty="0">
                <a:solidFill>
                  <a:srgbClr val="5A6478"/>
                </a:solidFill>
                <a:latin typeface="Calibri"/>
              </a:rPr>
              <a:t>which is</a:t>
            </a:r>
            <a:r>
              <a:rPr lang="en-US" sz="1500" b="0" i="0" dirty="0">
                <a:solidFill>
                  <a:srgbClr val="5A6478"/>
                </a:solidFill>
                <a:latin typeface="Calibri"/>
              </a:rPr>
              <a:t> mixed-negative.</a:t>
            </a:r>
          </a:p>
        </p:txBody>
      </p:sp>
      <p:pic>
        <p:nvPicPr>
          <p:cNvPr id="8" name="Camera 7">
            <a:extLst>
              <a:ext uri="{FF2B5EF4-FFF2-40B4-BE49-F238E27FC236}">
                <a16:creationId xmlns:a16="http://schemas.microsoft.com/office/drawing/2014/main" id="{EC163F42-2C9D-45A8-0846-719D5AFD88C0}"/>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7B1B5B5B-C431-96CD-D57F-A84BC7FB5917}"/>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29202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I SATISFIED MYSELF IT IS SOUND</a:t>
            </a:r>
          </a:p>
          <a:p>
            <a:pPr>
              <a:lnSpc>
                <a:spcPct val="100000"/>
              </a:lnSpc>
              <a:spcBef>
                <a:spcPts val="0"/>
              </a:spcBef>
              <a:spcAft>
                <a:spcPts val="0"/>
              </a:spcAft>
            </a:pPr>
            <a:r>
              <a:rPr lang="en-US" sz="3000" b="1" i="0" dirty="0">
                <a:solidFill>
                  <a:srgbClr val="1F4E79"/>
                </a:solidFill>
                <a:latin typeface="Calibri"/>
              </a:rPr>
              <a:t>How the work was created</a:t>
            </a:r>
            <a:r>
              <a:rPr sz="3000" b="1" i="0" dirty="0">
                <a:solidFill>
                  <a:srgbClr val="1F4E79"/>
                </a:solidFill>
                <a:latin typeface="Calibri"/>
              </a:rPr>
              <a:t>,
and </a:t>
            </a:r>
            <a:r>
              <a:rPr lang="en-US" sz="3000" b="1" i="0" dirty="0">
                <a:solidFill>
                  <a:srgbClr val="1F4E79"/>
                </a:solidFill>
                <a:latin typeface="Calibri"/>
              </a:rPr>
              <a:t>what was examined</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954480"/>
          </a:xfrm>
          <a:prstGeom prst="rect">
            <a:avLst/>
          </a:prstGeom>
          <a:noFill/>
        </p:spPr>
        <p:txBody>
          <a:bodyPr wrap="square">
            <a:spAutoFit/>
          </a:bodyPr>
          <a:lstStyle/>
          <a:p>
            <a:pPr>
              <a:lnSpc>
                <a:spcPct val="108000"/>
              </a:lnSpc>
              <a:spcBef>
                <a:spcPts val="0"/>
              </a:spcBef>
              <a:spcAft>
                <a:spcPts val="300"/>
              </a:spcAft>
            </a:pPr>
            <a:r>
              <a:rPr lang="en-US" sz="1200" b="1" dirty="0">
                <a:solidFill>
                  <a:srgbClr val="141B2D"/>
                </a:solidFill>
              </a:rPr>
              <a:t>Claude, via Claude Code throughout the whole project.</a:t>
            </a:r>
          </a:p>
          <a:p>
            <a:pPr>
              <a:lnSpc>
                <a:spcPct val="112000"/>
              </a:lnSpc>
              <a:spcBef>
                <a:spcPts val="0"/>
              </a:spcBef>
              <a:spcAft>
                <a:spcPts val="0"/>
              </a:spcAft>
            </a:pPr>
            <a:r>
              <a:rPr lang="en-US" sz="1100" dirty="0">
                <a:solidFill>
                  <a:srgbClr val="5A6478"/>
                </a:solidFill>
              </a:rPr>
              <a:t>Code written and debugged, result sentences pulled from the filings for me to read, commentary drafted and then rewritten. Full logs submitted.</a:t>
            </a:r>
          </a:p>
          <a:p>
            <a:pPr>
              <a:lnSpc>
                <a:spcPct val="108000"/>
              </a:lnSpc>
              <a:spcBef>
                <a:spcPts val="1400"/>
              </a:spcBef>
              <a:spcAft>
                <a:spcPts val="300"/>
              </a:spcAft>
            </a:pPr>
            <a:r>
              <a:rPr lang="en-US" sz="1200" b="1" dirty="0">
                <a:solidFill>
                  <a:srgbClr val="141B2D"/>
                </a:solidFill>
              </a:rPr>
              <a:t>The constraints were mine.</a:t>
            </a:r>
          </a:p>
          <a:p>
            <a:pPr>
              <a:lnSpc>
                <a:spcPct val="112000"/>
              </a:lnSpc>
              <a:spcBef>
                <a:spcPts val="0"/>
              </a:spcBef>
              <a:spcAft>
                <a:spcPts val="0"/>
              </a:spcAft>
            </a:pPr>
            <a:r>
              <a:rPr lang="en-US" sz="1100" dirty="0">
                <a:solidFill>
                  <a:srgbClr val="5A6478"/>
                </a:solidFill>
              </a:rPr>
              <a:t>No feature unobservable before the event. Announcement drafts excluded as circular. The 30 filings read against the 8-Ks are my reading.</a:t>
            </a:r>
          </a:p>
          <a:p>
            <a:pPr>
              <a:lnSpc>
                <a:spcPct val="112000"/>
              </a:lnSpc>
              <a:spcBef>
                <a:spcPts val="0"/>
              </a:spcBef>
              <a:spcAft>
                <a:spcPts val="0"/>
              </a:spcAft>
            </a:pPr>
            <a:endParaRPr lang="en-US" sz="1000" b="1" i="0" dirty="0">
              <a:solidFill>
                <a:srgbClr val="141B2D"/>
              </a:solidFill>
              <a:latin typeface="Calibri"/>
            </a:endParaRPr>
          </a:p>
          <a:p>
            <a:pPr>
              <a:lnSpc>
                <a:spcPct val="108000"/>
              </a:lnSpc>
              <a:spcBef>
                <a:spcPts val="0"/>
              </a:spcBef>
              <a:spcAft>
                <a:spcPts val="300"/>
              </a:spcAft>
            </a:pPr>
            <a:r>
              <a:rPr sz="1200" b="1" i="0" dirty="0">
                <a:solidFill>
                  <a:srgbClr val="141B2D"/>
                </a:solidFill>
                <a:latin typeface="Calibri"/>
              </a:rPr>
              <a:t>Leakage audit before anything was fitted.</a:t>
            </a:r>
          </a:p>
          <a:p>
            <a:pPr>
              <a:lnSpc>
                <a:spcPct val="112000"/>
              </a:lnSpc>
              <a:spcBef>
                <a:spcPts val="0"/>
              </a:spcBef>
              <a:spcAft>
                <a:spcPts val="0"/>
              </a:spcAft>
            </a:pPr>
            <a:r>
              <a:rPr sz="1100" b="0" i="0" dirty="0">
                <a:solidFill>
                  <a:srgbClr val="5A6478"/>
                </a:solidFill>
                <a:latin typeface="Calibri"/>
              </a:rPr>
              <a:t>R² 0.20 → 0.96 with the nine excluded columns put back.</a:t>
            </a:r>
          </a:p>
          <a:p>
            <a:pPr>
              <a:lnSpc>
                <a:spcPct val="112000"/>
              </a:lnSpc>
              <a:spcBef>
                <a:spcPts val="0"/>
              </a:spcBef>
              <a:spcAft>
                <a:spcPts val="0"/>
              </a:spcAft>
            </a:pPr>
            <a:endParaRPr lang="en-US" sz="1400" dirty="0">
              <a:solidFill>
                <a:srgbClr val="5A6478"/>
              </a:solidFill>
              <a:latin typeface="Calibri"/>
            </a:endParaRPr>
          </a:p>
          <a:p>
            <a:pPr>
              <a:lnSpc>
                <a:spcPct val="112000"/>
              </a:lnSpc>
              <a:spcBef>
                <a:spcPts val="0"/>
              </a:spcBef>
              <a:spcAft>
                <a:spcPts val="0"/>
              </a:spcAft>
            </a:pPr>
            <a:r>
              <a:rPr sz="1200" b="1" i="0" dirty="0">
                <a:solidFill>
                  <a:srgbClr val="141B2D"/>
                </a:solidFill>
                <a:latin typeface="Calibri"/>
              </a:rPr>
              <a:t>Validated against honest nulls.</a:t>
            </a:r>
          </a:p>
          <a:p>
            <a:pPr>
              <a:lnSpc>
                <a:spcPct val="112000"/>
              </a:lnSpc>
              <a:spcBef>
                <a:spcPts val="0"/>
              </a:spcBef>
              <a:spcAft>
                <a:spcPts val="0"/>
              </a:spcAft>
            </a:pPr>
            <a:r>
              <a:rPr sz="1100" b="0" i="0" dirty="0">
                <a:solidFill>
                  <a:srgbClr val="5A6478"/>
                </a:solidFill>
                <a:latin typeface="Calibri"/>
              </a:rPr>
              <a:t>Permuted features · bootstrap by filing, not by row · forward chaining takes R² from 0.20 to 0.17 — what the pipeline can deliver.</a:t>
            </a:r>
            <a:endParaRPr lang="en-US" sz="1100" b="0" i="0" dirty="0">
              <a:solidFill>
                <a:srgbClr val="5A6478"/>
              </a:solidFill>
              <a:latin typeface="Calibri"/>
            </a:endParaRPr>
          </a:p>
          <a:p>
            <a:pPr>
              <a:lnSpc>
                <a:spcPct val="112000"/>
              </a:lnSpc>
              <a:spcBef>
                <a:spcPts val="0"/>
              </a:spcBef>
              <a:spcAft>
                <a:spcPts val="0"/>
              </a:spcAft>
            </a:pPr>
            <a:endParaRPr lang="en-AU" sz="1400" dirty="0">
              <a:solidFill>
                <a:srgbClr val="5A6478"/>
              </a:solidFill>
              <a:latin typeface="Calibri"/>
            </a:endParaRPr>
          </a:p>
          <a:p>
            <a:pPr>
              <a:lnSpc>
                <a:spcPct val="112000"/>
              </a:lnSpc>
            </a:pPr>
            <a:r>
              <a:rPr lang="en-US" sz="1200" b="1" dirty="0">
                <a:solidFill>
                  <a:srgbClr val="141B2D"/>
                </a:solidFill>
              </a:rPr>
              <a:t>Manual Validation Methods </a:t>
            </a:r>
          </a:p>
          <a:p>
            <a:pPr>
              <a:lnSpc>
                <a:spcPct val="112000"/>
              </a:lnSpc>
              <a:spcBef>
                <a:spcPts val="0"/>
              </a:spcBef>
              <a:spcAft>
                <a:spcPts val="0"/>
              </a:spcAft>
            </a:pPr>
            <a:r>
              <a:rPr lang="en-AU" sz="1100" dirty="0">
                <a:solidFill>
                  <a:srgbClr val="5A6478"/>
                </a:solidFill>
                <a:latin typeface="Calibri"/>
              </a:rPr>
              <a:t>Validated the code cell by cell to ensure it met the requirements of the task even though it was produced by AI. Rewrote the commentary across various areas of the project. </a:t>
            </a:r>
          </a:p>
          <a:p>
            <a:pPr>
              <a:lnSpc>
                <a:spcPct val="112000"/>
              </a:lnSpc>
              <a:spcBef>
                <a:spcPts val="0"/>
              </a:spcBef>
              <a:spcAft>
                <a:spcPts val="0"/>
              </a:spcAft>
            </a:pPr>
            <a:endParaRPr lang="en-AU" sz="1400" dirty="0">
              <a:solidFill>
                <a:srgbClr val="5A6478"/>
              </a:solidFill>
              <a:latin typeface="Calibri"/>
            </a:endParaRPr>
          </a:p>
        </p:txBody>
      </p:sp>
      <p:pic>
        <p:nvPicPr>
          <p:cNvPr id="8" name="Camera 7">
            <a:extLst>
              <a:ext uri="{FF2B5EF4-FFF2-40B4-BE49-F238E27FC236}">
                <a16:creationId xmlns:a16="http://schemas.microsoft.com/office/drawing/2014/main" id="{142A8A96-156C-8D11-9714-4BA54BF6AB09}"/>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AF7EBAB1-3553-1492-32A1-711CAAA38672}"/>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19" y="124786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RESPONSIBILITY UNDER PG1</a:t>
            </a:r>
            <a:r>
              <a:rPr lang="en-US" sz="1200" b="1" i="0" dirty="0">
                <a:solidFill>
                  <a:srgbClr val="5A6478"/>
                </a:solidFill>
                <a:latin typeface="Calibri"/>
              </a:rPr>
              <a:t> AND FINAL REMARKS</a:t>
            </a:r>
            <a:endParaRPr sz="1200" b="1" i="0" dirty="0">
              <a:solidFill>
                <a:srgbClr val="5A6478"/>
              </a:solidFill>
              <a:latin typeface="Calibri"/>
            </a:endParaRPr>
          </a:p>
          <a:p>
            <a:pPr>
              <a:lnSpc>
                <a:spcPct val="100000"/>
              </a:lnSpc>
              <a:spcBef>
                <a:spcPts val="0"/>
              </a:spcBef>
              <a:spcAft>
                <a:spcPts val="0"/>
              </a:spcAft>
            </a:pPr>
            <a:r>
              <a:rPr lang="en-US" sz="3000" b="1" i="0" dirty="0">
                <a:solidFill>
                  <a:srgbClr val="1F4E79"/>
                </a:solidFill>
                <a:latin typeface="Calibri"/>
              </a:rPr>
              <a:t>Final Takeaways</a:t>
            </a:r>
            <a:endParaRPr sz="3000" b="1" i="0" dirty="0">
              <a:solidFill>
                <a:srgbClr val="1F4E79"/>
              </a:solidFill>
              <a:latin typeface="Calibri"/>
            </a:endParaRP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239028"/>
          </a:xfrm>
          <a:prstGeom prst="rect">
            <a:avLst/>
          </a:prstGeom>
          <a:noFill/>
        </p:spPr>
        <p:txBody>
          <a:bodyPr wrap="square">
            <a:spAutoFit/>
          </a:bodyPr>
          <a:lstStyle/>
          <a:p>
            <a:pPr>
              <a:lnSpc>
                <a:spcPct val="115000"/>
              </a:lnSpc>
              <a:spcBef>
                <a:spcPts val="0"/>
              </a:spcBef>
              <a:spcAft>
                <a:spcPts val="2200"/>
              </a:spcAft>
            </a:pPr>
            <a:r>
              <a:rPr sz="1800" b="0" i="0" dirty="0">
                <a:solidFill>
                  <a:srgbClr val="141B2D"/>
                </a:solidFill>
                <a:latin typeface="Calibri"/>
              </a:rPr>
              <a:t>Understand the model before relying on it. Judge whether its assumptions and methodology suit the purpose at hand.</a:t>
            </a:r>
            <a:r>
              <a:rPr lang="en-US" sz="1800" b="0" i="0" dirty="0">
                <a:solidFill>
                  <a:srgbClr val="141B2D"/>
                </a:solidFill>
                <a:latin typeface="Calibri"/>
              </a:rPr>
              <a:t> The code is all stored in GitHub in a markdown file, supported with commentary and </a:t>
            </a:r>
            <a:r>
              <a:rPr lang="en-US" sz="1800" b="0" i="0">
                <a:solidFill>
                  <a:srgbClr val="141B2D"/>
                </a:solidFill>
                <a:latin typeface="Calibri"/>
              </a:rPr>
              <a:t>methodology documents. </a:t>
            </a:r>
            <a:endParaRPr sz="1800" b="0" i="0" dirty="0">
              <a:solidFill>
                <a:srgbClr val="141B2D"/>
              </a:solidFill>
              <a:latin typeface="Calibri"/>
            </a:endParaRPr>
          </a:p>
          <a:p>
            <a:pPr>
              <a:lnSpc>
                <a:spcPct val="108000"/>
              </a:lnSpc>
              <a:spcBef>
                <a:spcPts val="0"/>
              </a:spcBef>
              <a:spcAft>
                <a:spcPts val="800"/>
              </a:spcAft>
            </a:pPr>
            <a:r>
              <a:rPr sz="1200" b="1" i="0" dirty="0">
                <a:solidFill>
                  <a:srgbClr val="5A6478"/>
                </a:solidFill>
                <a:latin typeface="Calibri"/>
              </a:rPr>
              <a:t>IF YOUR TIME IS LIMITED, REVIEW</a:t>
            </a:r>
          </a:p>
          <a:p>
            <a:pPr>
              <a:lnSpc>
                <a:spcPct val="115000"/>
              </a:lnSpc>
              <a:spcBef>
                <a:spcPts val="0"/>
              </a:spcBef>
              <a:spcAft>
                <a:spcPts val="800"/>
              </a:spcAft>
            </a:pPr>
            <a:r>
              <a:rPr sz="1700" b="0" i="0" dirty="0">
                <a:solidFill>
                  <a:srgbClr val="141B2D"/>
                </a:solidFill>
                <a:latin typeface="Calibri"/>
              </a:rPr>
              <a:t>1.  My decision to exclude the announcement drafts from the estimates.</a:t>
            </a:r>
          </a:p>
          <a:p>
            <a:pPr>
              <a:lnSpc>
                <a:spcPct val="115000"/>
              </a:lnSpc>
              <a:spcBef>
                <a:spcPts val="0"/>
              </a:spcBef>
              <a:spcAft>
                <a:spcPts val="0"/>
              </a:spcAft>
            </a:pPr>
            <a:r>
              <a:rPr sz="1700" b="0" i="0" dirty="0">
                <a:solidFill>
                  <a:srgbClr val="141B2D"/>
                </a:solidFill>
                <a:latin typeface="Calibri"/>
              </a:rPr>
              <a:t>2.  Whether the ASC-101 estimate should go in front of the board at all.</a:t>
            </a:r>
          </a:p>
        </p:txBody>
      </p:sp>
      <p:pic>
        <p:nvPicPr>
          <p:cNvPr id="8" name="Camera 7">
            <a:extLst>
              <a:ext uri="{FF2B5EF4-FFF2-40B4-BE49-F238E27FC236}">
                <a16:creationId xmlns:a16="http://schemas.microsoft.com/office/drawing/2014/main" id="{33410830-612F-7D1D-7FB9-556950B61CBA}"/>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708659"/>
            <a:ext cx="4708780" cy="5463541"/>
          </a:xfrm>
          <a:prstGeom prst="rect">
            <a:avLst/>
          </a:prstGeom>
          <a:ln>
            <a:noFill/>
          </a:ln>
          <a:effectLst/>
        </p:spPr>
      </p:pic>
      <p:pic>
        <p:nvPicPr>
          <p:cNvPr id="9" name="Camera 8">
            <a:extLst>
              <a:ext uri="{FF2B5EF4-FFF2-40B4-BE49-F238E27FC236}">
                <a16:creationId xmlns:a16="http://schemas.microsoft.com/office/drawing/2014/main" id="{68519D37-9EE9-6B1B-A815-D27D96660D43}"/>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411480" y="685801"/>
            <a:ext cx="4708780" cy="5486400"/>
          </a:xfrm>
          <a:prstGeom prst="rect">
            <a:avLst/>
          </a:prstGeom>
          <a:ln>
            <a:noFill/>
          </a:ln>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TotalTime>
  <Words>1735</Words>
  <Application>Microsoft Office PowerPoint</Application>
  <PresentationFormat>Widescreen</PresentationFormat>
  <Paragraphs>130</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Rui Zhang</cp:lastModifiedBy>
  <cp:revision>5</cp:revision>
  <dcterms:created xsi:type="dcterms:W3CDTF">2013-01-27T09:14:16Z</dcterms:created>
  <dcterms:modified xsi:type="dcterms:W3CDTF">2026-09-25T06:36:02Z</dcterms:modified>
  <cp:category/>
</cp:coreProperties>
</file>